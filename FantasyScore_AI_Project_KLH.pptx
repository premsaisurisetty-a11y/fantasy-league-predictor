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9.xml" ContentType="application/vnd.openxmlformats-officedocument.presentationml.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8" r:id="rId3"/>
    <p:sldId id="259" r:id="rId4"/>
    <p:sldId id="267" r:id="rId17"/>
    <p:sldId id="263" r:id="rId5"/>
    <p:sldId id="260" r:id="rId6"/>
    <p:sldId id="262" r:id="rId7"/>
    <p:sldId id="264" r:id="rId8"/>
    <p:sldId id="266" r:id="rId9"/>
  </p:sldIdLst>
  <p:sldSz cx="18288000" cy="10287000"/>
  <p:notesSz cx="6858000" cy="9144000"/>
  <p:embeddedFontLst>
    <p:embeddedFont>
      <p:font typeface="Public Sans" panose="020B0604020202020204" charset="0"/>
      <p:regular r:id="rId11"/>
    </p:embeddedFont>
    <p:embeddedFont>
      <p:font typeface="Public Sa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9.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2000" b="1">
                <a:solidFill>
                  <a:srgbClr val="000000"/>
                </a:solidFill>
                <a:latin typeface="Public Sans Bold"/>
              </a:rPr>
              <a:t>Test MAE (lower = better)</a:t>
            </a:r>
          </a:p>
        </c:rich>
      </c:tx>
      <c:overlay val="0"/>
    </c:title>
    <c:autoTitleDeleted val="0"/>
    <c:plotArea>
      <c:layout/>
      <c:barChart>
        <c:barDir val="col"/>
        <c:grouping val="clustered"/>
        <c:varyColors val="1"/>
        <c:ser>
          <c:idx val="0"/>
          <c:order val="0"/>
          <c:tx>
            <c:strRef>
              <c:f>Sheet1!$B$1</c:f>
              <c:strCache>
                <c:ptCount val="1"/>
                <c:pt idx="0">
                  <c:v>MAE</c:v>
                </c:pt>
              </c:strCache>
            </c:strRef>
          </c:tx>
          <c:spPr>
            <a:solidFill>
              <a:srgbClr val="8C867C"/>
            </a:solidFill>
          </c:spPr>
          <c:invertIfNegative val="1"/>
          <c:dPt>
            <c:idx val="3"/>
            <c:invertIfNegative val="1"/>
            <c:bubble3D val="0"/>
            <c:spPr>
              <a:solidFill>
                <a:srgbClr val="000000"/>
              </a:solidFill>
            </c:spPr>
            <c:extLst>
              <c:ext xmlns:c16="http://schemas.microsoft.com/office/drawing/2014/chart" uri="{C3380CC4-5D6E-409C-BE32-E72D297353CC}">
                <c16:uniqueId val="{00000001-1A5D-400B-88C1-1CAD5B3E13DF}"/>
              </c:ext>
            </c:extLst>
          </c:dPt>
          <c:dLbls>
            <c:spPr>
              <a:noFill/>
              <a:ln>
                <a:noFill/>
              </a:ln>
              <a:effectLst/>
            </c:spPr>
            <c:txPr>
              <a:bodyPr/>
              <a:lstStyle/>
              <a:p>
                <a:pPr>
                  <a:defRPr sz="1800">
                    <a:solidFill>
                      <a:srgbClr val="000000"/>
                    </a:solidFill>
                    <a:latin typeface="Public Sans Bold"/>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Linear</c:v>
                </c:pt>
                <c:pt idx="1">
                  <c:v>Tree</c:v>
                </c:pt>
                <c:pt idx="2">
                  <c:v>Forest</c:v>
                </c:pt>
                <c:pt idx="3">
                  <c:v>LightGBM</c:v>
                </c:pt>
              </c:strCache>
            </c:strRef>
          </c:cat>
          <c:val>
            <c:numRef>
              <c:f>Sheet1!$B$2:$B$5</c:f>
              <c:numCache>
                <c:formatCode>0.00</c:formatCode>
                <c:ptCount val="4"/>
                <c:pt idx="0">
                  <c:v>7.86</c:v>
                </c:pt>
                <c:pt idx="1">
                  <c:v>9.81</c:v>
                </c:pt>
                <c:pt idx="2">
                  <c:v>8.68</c:v>
                </c:pt>
                <c:pt idx="3">
                  <c:v>8.1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A5D-400B-88C1-1CAD5B3E13DF}"/>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000000"/>
            </a:solidFill>
          </a:ln>
        </c:spPr>
        <c:txPr>
          <a:bodyPr/>
          <a:lstStyle/>
          <a:p>
            <a:pPr>
              <a:defRPr sz="1600">
                <a:solidFill>
                  <a:srgbClr val="000000"/>
                </a:solidFill>
                <a:latin typeface="Public Sans"/>
              </a:defRPr>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D9D2C6"/>
              </a:solidFill>
            </a:ln>
          </c:spPr>
        </c:majorGridlines>
        <c:numFmt formatCode="General" sourceLinked="1"/>
        <c:majorTickMark val="out"/>
        <c:minorTickMark val="none"/>
        <c:tickLblPos val="nextTo"/>
        <c:spPr>
          <a:ln>
            <a:noFill/>
          </a:ln>
        </c:spPr>
        <c:txPr>
          <a:bodyPr/>
          <a:lstStyle/>
          <a:p>
            <a:pPr>
              <a:defRPr sz="1600">
                <a:solidFill>
                  <a:srgbClr val="000000"/>
                </a:solidFill>
                <a:latin typeface="Public Sans"/>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7002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Our project, FantasyScore AI, predicts how many fantasy points a cricket player will score in a match, using a LightGBM gradient-boosted regression model, and serves the predictions through a Flask web app.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Picking a fantasy team is guesswork without data. We framed it as supervised regression: the target is fantasy_points, a continuous number. The dataset has 2,741 player-match rows for 163 players across 130 matches of the 2026 season.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 17 input features. Match context covers who the player is playing for and against. Batting and bowling averages describe skill. Form and availability capture how the player has been doing lately. Identifier columns like match_id and player_name are excluded from training.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has four stages. We impute missing numbers with medians computed only on training rows. We split chronologically so the model never sees future matches. LightGBM stopped at 197 trees. Finally the saved model is loaded by a Flask app.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Training happens offline in train.py and produces a single model bundle that stores the model, the feature list, the medians and the category lists. The Flask app loads that bundle once, applies identical preprocessing to user input, and returns a prediction.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held-out test set LightGBM is off by about 8 points on average, with R-squared 0.68. It beats the decision tree and random forest. Plain linear regression is slightly better, at 7.86 MAE, which tells us the relationships in this dataset are largely linear. Note: early stopping currently uses the test set, which should move to a separate validation split.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Recent form is by far the strongest signal, followed by wickets. The data is synthetic, and the typical error band is about plus or minus 13 points, so predictions guide rather than guarantee picks. Next we want live data, richer context, SHAP explanations and an automatic squad optimiser.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The app runs locally with python app/app.py. We are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modelling we explored the data. Fantasy points average 35.6 and are mildly right-skewed. Recent average points, player form and wickets correlate most strongly with the target, while stronger opponents lower scores. All-rounders score the most on average, at 43.4 points. Data quality was good: only about 1% of values were missing, and fixing inconsistent casing and spacing reduced 19 team labels to the real 10.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0"/>
              </a:srgbClr>
            </a:gs>
            <a:gs pos="100000">
              <a:srgbClr val="FDF8F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FE9DF">
                    <a:alpha val="100000"/>
                  </a:srgbClr>
                </a:gs>
                <a:gs pos="100000">
                  <a:srgbClr val="FDF8F0">
                    <a:alpha val="0"/>
                  </a:srgbClr>
                </a:gs>
              </a:gsLst>
              <a:lin ang="0"/>
            </a:gradFill>
          </p:spPr>
        </p:sp>
        <p:sp>
          <p:nvSpPr>
            <p:cNvPr id="4" name="TextBox 4"/>
            <p:cNvSpPr txBox="1"/>
            <p:nvPr/>
          </p:nvSpPr>
          <p:spPr>
            <a:xfrm>
              <a:off x="0" y="-38100"/>
              <a:ext cx="2408296" cy="2747433"/>
            </a:xfrm>
            <a:prstGeom prst="rect">
              <a:avLst/>
            </a:prstGeom>
          </p:spPr>
          <p:txBody>
            <a:bodyPr lIns="50800" tIns="50800" rIns="50800" bIns="50800" rtlCol="0" anchor="ctr"/>
            <a:lstStyle/>
            <a:p>
              <a:pPr algn="ctr">
                <a:lnSpc>
                  <a:spcPts val="3120"/>
                </a:lnSpc>
              </a:pPr>
              <a:endParaRPr/>
            </a:p>
          </p:txBody>
        </p:sp>
      </p:grpSp>
      <p:sp>
        <p:nvSpPr>
          <p:cNvPr id="5" name="TextBox 5"/>
          <p:cNvSpPr txBox="1"/>
          <p:nvPr/>
        </p:nvSpPr>
        <p:spPr>
          <a:xfrm>
            <a:off x="1028700" y="640080"/>
            <a:ext cx="10241280" cy="605790"/>
          </a:xfrm>
          <a:prstGeom prst="rect">
            <a:avLst/>
          </a:prstGeom>
        </p:spPr>
        <p:txBody>
          <a:bodyPr lIns="0" tIns="0" rIns="0" bIns="0" rtlCol="0" anchor="t">
            <a:spAutoFit/>
          </a:bodyPr>
          <a:lstStyle/>
          <a:p>
            <a:pPr algn="l">
              <a:lnSpc>
                <a:spcPct val="115000"/>
              </a:lnSpc>
            </a:pPr>
            <a:r>
              <a:rPr lang="en-US" sz="3000" spc="-126" b="1">
                <a:solidFill>
                  <a:srgbClr val="000000"/>
                </a:solidFill>
                <a:latin typeface="Public Sans Bold"/>
                <a:ea typeface="Public Sans"/>
                <a:cs typeface="Public Sans"/>
                <a:sym typeface="Public Sans"/>
              </a:rPr>
              <a:t>Machine Learning Project</a:t>
            </a:r>
          </a:p>
          <a:p>
            <a:pPr algn="l">
              <a:lnSpc>
                <a:spcPct val="115000"/>
              </a:lnSpc>
            </a:pPr>
            <a:r>
              <a:rPr lang="en-US" sz="2200" spc="-126" b="0">
                <a:solidFill>
                  <a:srgbClr val="000000"/>
                </a:solidFill>
                <a:latin typeface="Public Sans"/>
                <a:ea typeface="Public Sans"/>
                <a:cs typeface="Public Sans"/>
                <a:sym typeface="Public Sans"/>
              </a:rPr>
              <a:t>FantasyScore AI · Project Presentation</a:t>
            </a:r>
          </a:p>
        </p:txBody>
      </p:sp>
      <p:sp>
        <p:nvSpPr>
          <p:cNvPr id="6" name="TextBox 6"/>
          <p:cNvSpPr txBox="1"/>
          <p:nvPr/>
        </p:nvSpPr>
        <p:spPr>
          <a:xfrm>
            <a:off x="1028700" y="1726020"/>
            <a:ext cx="10972800" cy="1264285"/>
          </a:xfrm>
          <a:prstGeom prst="rect">
            <a:avLst/>
          </a:prstGeom>
        </p:spPr>
        <p:txBody>
          <a:bodyPr lIns="0" tIns="0" rIns="0" bIns="0" rtlCol="0" anchor="t">
            <a:spAutoFit/>
          </a:bodyPr>
          <a:lstStyle/>
          <a:p>
            <a:pPr algn="l">
              <a:lnSpc>
                <a:spcPts val="9679"/>
              </a:lnSpc>
            </a:pPr>
            <a:r>
              <a:rPr lang="en-US" sz="6000" b="1" spc="-263">
                <a:solidFill>
                  <a:srgbClr val="000000"/>
                </a:solidFill>
                <a:latin typeface="Public Sans Bold"/>
                <a:ea typeface="Public Sans Bold"/>
                <a:cs typeface="Public Sans Bold"/>
                <a:sym typeface="Public Sans Bold"/>
              </a:rPr>
              <a:t>Fantasy Points Prediction</a:t>
            </a:r>
          </a:p>
          <a:p>
            <a:pPr algn="l">
              <a:lnSpc>
                <a:spcPts val="9679"/>
              </a:lnSpc>
            </a:pPr>
            <a:r>
              <a:rPr lang="en-US" sz="6000" b="1" spc="-263">
                <a:solidFill>
                  <a:srgbClr val="000000"/>
                </a:solidFill>
                <a:latin typeface="Public Sans Bold"/>
                <a:ea typeface="Public Sans Bold"/>
                <a:cs typeface="Public Sans Bold"/>
                <a:sym typeface="Public Sans Bold"/>
              </a:rPr>
              <a:t>with LightGBM</a:t>
            </a:r>
          </a:p>
        </p:txBody>
      </p:sp>
      <p:sp>
        <p:nvSpPr>
          <p:cNvPr id="7" name="TextBox 7"/>
          <p:cNvSpPr txBox="1"/>
          <p:nvPr/>
        </p:nvSpPr>
        <p:spPr>
          <a:xfrm>
            <a:off x="1028700" y="8528259"/>
            <a:ext cx="5846711" cy="251460"/>
          </a:xfrm>
          <a:prstGeom prst="rect">
            <a:avLst/>
          </a:prstGeom>
        </p:spPr>
        <p:txBody>
          <a:bodyPr lIns="0" tIns="0" rIns="0" bIns="0" rtlCol="0" anchor="t">
            <a:spAutoFit/>
          </a:bodyPr>
          <a:lstStyle/>
          <a:p>
            <a:pPr algn="l">
              <a:lnSpc>
                <a:spcPts val="1980"/>
              </a:lnSpc>
            </a:pPr>
            <a:r>
              <a:rPr lang="en-US" sz="1800">
                <a:solidFill>
                  <a:srgbClr val="000000"/>
                </a:solidFill>
                <a:latin typeface="Public Sans"/>
                <a:ea typeface="Public Sans"/>
                <a:cs typeface="Public Sans"/>
                <a:sym typeface="Public Sans"/>
              </a:rPr>
              <a:t>PRESENTED BY</a:t>
            </a:r>
          </a:p>
        </p:txBody>
      </p:sp>
      <p:sp>
        <p:nvSpPr>
          <p:cNvPr id="8" name="TextBox 8"/>
          <p:cNvSpPr txBox="1"/>
          <p:nvPr/>
        </p:nvSpPr>
        <p:spPr>
          <a:xfrm>
            <a:off x="1028700" y="8945880"/>
            <a:ext cx="5846711" cy="294953"/>
          </a:xfrm>
          <a:prstGeom prst="rect">
            <a:avLst/>
          </a:prstGeom>
        </p:spPr>
        <p:txBody>
          <a:bodyPr lIns="0" tIns="0" rIns="0" bIns="0" rtlCol="0" anchor="t">
            <a:spAutoFit/>
          </a:bodyPr>
          <a:lstStyle/>
          <a:p>
            <a:pPr algn="l">
              <a:lnSpc>
                <a:spcPts val="2310"/>
              </a:lnSpc>
            </a:pPr>
            <a:r>
              <a:rPr lang="en-US" sz="2100" b="1" dirty="0">
                <a:solidFill>
                  <a:srgbClr val="000000"/>
                </a:solidFill>
                <a:latin typeface="Public Sans Bold"/>
                <a:ea typeface="Public Sans Bold"/>
                <a:cs typeface="Public Sans Bold"/>
                <a:sym typeface="Public Sans Bold"/>
              </a:rPr>
              <a:t>SURISETTI PREM SAI · 2520030561</a:t>
            </a:r>
          </a:p>
          <a:p>
            <a:pPr algn="l">
              <a:lnSpc>
                <a:spcPts val="2310"/>
              </a:lnSpc>
              <a:spcBef>
                <a:spcPts val="900"/>
              </a:spcBef>
            </a:pPr>
            <a:r>
              <a:rPr lang="en-US" sz="2100" b="1" dirty="0">
                <a:solidFill>
                  <a:srgbClr val="000000"/>
                </a:solidFill>
                <a:latin typeface="Public Sans Bold"/>
                <a:ea typeface="Public Sans Bold"/>
                <a:cs typeface="Public Sans Bold"/>
                <a:sym typeface="Public Sans Bold"/>
              </a:rPr>
              <a:t>MOHIT VENKAT SAI · 2520030106</a:t>
            </a:r>
          </a:p>
        </p:txBody>
      </p:sp>
      <p:sp>
        <p:nvSpPr>
          <p:cNvPr id="9" name="TextBox 9"/>
          <p:cNvSpPr txBox="1"/>
          <p:nvPr/>
        </p:nvSpPr>
        <p:spPr>
          <a:xfrm>
            <a:off x="11412589" y="1028700"/>
            <a:ext cx="5846711" cy="312420"/>
          </a:xfrm>
          <a:prstGeom prst="rect">
            <a:avLst/>
          </a:prstGeom>
        </p:spPr>
        <p:txBody>
          <a:bodyPr lIns="0" tIns="0" rIns="0" bIns="0" rtlCol="0" anchor="t">
            <a:spAutoFit/>
          </a:bodyPr>
          <a:lstStyle/>
          <a:p>
            <a:pPr algn="r">
              <a:lnSpc>
                <a:spcPts val="2310"/>
              </a:lnSpc>
            </a:pPr>
            <a:r>
              <a:rPr lang="en-US" sz="2100">
                <a:solidFill>
                  <a:srgbClr val="000000"/>
                </a:solidFill>
                <a:latin typeface="Public Sans"/>
                <a:ea typeface="Public Sans"/>
                <a:cs typeface="Public Sans"/>
                <a:sym typeface="Public Sans"/>
              </a:rPr>
              <a:t>2026 OCTOBER 5</a:t>
            </a:r>
          </a:p>
        </p:txBody>
      </p:sp>
      <p:pic>
        <p:nvPicPr>
          <p:cNvPr id="10" name="Picture 9" descr="klh_banner.png"/>
          <p:cNvPicPr>
            <a:picLocks noChangeAspect="1"/>
          </p:cNvPicPr>
          <p:nvPr/>
        </p:nvPicPr>
        <p:blipFill>
          <a:blip r:embed="rId3"/>
          <a:stretch>
            <a:fillRect/>
          </a:stretch>
        </p:blipFill>
        <p:spPr>
          <a:xfrm>
            <a:off x="11585448" y="8732520"/>
            <a:ext cx="5669280" cy="643245"/>
          </a:xfrm>
          <a:prstGeom prst="rect">
            <a:avLst/>
          </a:prstGeom>
        </p:spPr>
      </p:pic>
      <p:sp>
        <p:nvSpPr>
          <p:cNvPr id="11" name="TextBox 7"/>
          <p:cNvSpPr txBox="1"/>
          <p:nvPr/>
        </p:nvSpPr>
        <p:spPr>
          <a:xfrm>
            <a:off x="7223760" y="8528259"/>
            <a:ext cx="5846711" cy="251460"/>
          </a:xfrm>
          <a:prstGeom prst="rect">
            <a:avLst/>
          </a:prstGeom>
        </p:spPr>
        <p:txBody>
          <a:bodyPr lIns="0" tIns="0" rIns="0" bIns="0" rtlCol="0" anchor="t">
            <a:spAutoFit/>
          </a:bodyPr>
          <a:lstStyle/>
          <a:p>
            <a:pPr algn="l">
              <a:lnSpc>
                <a:spcPts val="1980"/>
              </a:lnSpc>
            </a:pPr>
            <a:r>
              <a:rPr lang="en-US" sz="1800">
                <a:solidFill>
                  <a:srgbClr val="000000"/>
                </a:solidFill>
                <a:latin typeface="Public Sans"/>
                <a:ea typeface="Public Sans"/>
                <a:cs typeface="Public Sans"/>
                <a:sym typeface="Public Sans"/>
              </a:rPr>
              <a:t>GUIDED BY</a:t>
            </a:r>
          </a:p>
        </p:txBody>
      </p:sp>
      <p:sp>
        <p:nvSpPr>
          <p:cNvPr id="12" name="TextBox 8"/>
          <p:cNvSpPr txBox="1"/>
          <p:nvPr/>
        </p:nvSpPr>
        <p:spPr>
          <a:xfrm>
            <a:off x="7223760" y="8945880"/>
            <a:ext cx="5846711" cy="312420"/>
          </a:xfrm>
          <a:prstGeom prst="rect">
            <a:avLst/>
          </a:prstGeom>
        </p:spPr>
        <p:txBody>
          <a:bodyPr lIns="0" tIns="0" rIns="0" bIns="0" rtlCol="0" anchor="t">
            <a:spAutoFit/>
          </a:bodyPr>
          <a:lstStyle/>
          <a:p>
            <a:pPr algn="l">
              <a:lnSpc>
                <a:spcPts val="2310"/>
              </a:lnSpc>
            </a:pPr>
            <a:r>
              <a:rPr lang="en-US" sz="2100" b="1">
                <a:solidFill>
                  <a:srgbClr val="000000"/>
                </a:solidFill>
                <a:latin typeface="Public Sans Bold"/>
                <a:ea typeface="Public Sans Bold"/>
                <a:cs typeface="Public Sans Bold"/>
                <a:sym typeface="Public Sans Bold"/>
              </a:rPr>
              <a:t>M. RANI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100000"/>
              </a:srgbClr>
            </a:gs>
            <a:gs pos="100000">
              <a:srgbClr val="FDF8F0">
                <a:alpha val="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3739927" y="0"/>
            <a:ext cx="4548073" cy="10287000"/>
          </a:xfrm>
          <a:custGeom>
            <a:avLst/>
            <a:gdLst/>
            <a:ahLst/>
            <a:cxnLst/>
            <a:rect l="l" t="t" r="r" b="b"/>
            <a:pathLst>
              <a:path w="4548073" h="10287000">
                <a:moveTo>
                  <a:pt x="0" y="0"/>
                </a:moveTo>
                <a:lnTo>
                  <a:pt x="4548073" y="0"/>
                </a:lnTo>
                <a:lnTo>
                  <a:pt x="4548073" y="10287000"/>
                </a:lnTo>
                <a:lnTo>
                  <a:pt x="0" y="10287000"/>
                </a:lnTo>
                <a:lnTo>
                  <a:pt x="0" y="0"/>
                </a:lnTo>
                <a:close/>
              </a:path>
            </a:pathLst>
          </a:custGeom>
          <a:blipFill>
            <a:blip r:embed="rId3"/>
            <a:stretch>
              <a:fillRect/>
            </a:stretch>
          </a:blipFill>
        </p:spPr>
        <p:txBody>
          <a:bodyPr/>
          <a:lstStyle/>
          <a:p>
            <a:endParaRPr/>
          </a:p>
        </p:txBody>
      </p:sp>
      <p:grpSp>
        <p:nvGrpSpPr>
          <p:cNvPr id="3" name="Group 3"/>
          <p:cNvGrpSpPr/>
          <p:nvPr/>
        </p:nvGrpSpPr>
        <p:grpSpPr>
          <a:xfrm>
            <a:off x="0" y="4622985"/>
            <a:ext cx="17259300" cy="4799112"/>
            <a:chOff x="0" y="0"/>
            <a:chExt cx="4545659" cy="1263964"/>
          </a:xfrm>
        </p:grpSpPr>
        <p:sp>
          <p:nvSpPr>
            <p:cNvPr id="4" name="Freeform 4"/>
            <p:cNvSpPr/>
            <p:nvPr/>
          </p:nvSpPr>
          <p:spPr>
            <a:xfrm>
              <a:off x="0" y="0"/>
              <a:ext cx="4545659" cy="1263964"/>
            </a:xfrm>
            <a:custGeom>
              <a:avLst/>
              <a:gdLst/>
              <a:ahLst/>
              <a:cxnLst/>
              <a:rect l="l" t="t" r="r" b="b"/>
              <a:pathLst>
                <a:path w="4545659" h="1263964">
                  <a:moveTo>
                    <a:pt x="0" y="0"/>
                  </a:moveTo>
                  <a:lnTo>
                    <a:pt x="4545659" y="0"/>
                  </a:lnTo>
                  <a:lnTo>
                    <a:pt x="4545659" y="1263964"/>
                  </a:lnTo>
                  <a:lnTo>
                    <a:pt x="0" y="1263964"/>
                  </a:lnTo>
                  <a:close/>
                </a:path>
              </a:pathLst>
            </a:custGeom>
            <a:solidFill>
              <a:srgbClr val="FDF8F0"/>
            </a:solidFill>
          </p:spPr>
        </p:sp>
        <p:sp>
          <p:nvSpPr>
            <p:cNvPr id="5" name="TextBox 5"/>
            <p:cNvSpPr txBox="1"/>
            <p:nvPr/>
          </p:nvSpPr>
          <p:spPr>
            <a:xfrm>
              <a:off x="0" y="0"/>
              <a:ext cx="4545659" cy="1263964"/>
            </a:xfrm>
            <a:prstGeom prst="rect">
              <a:avLst/>
            </a:prstGeom>
          </p:spPr>
          <p:txBody>
            <a:bodyPr lIns="50800" tIns="50800" rIns="50800" bIns="50800" rtlCol="0" anchor="ctr"/>
            <a:lstStyle/>
            <a:p>
              <a:pPr algn="ctr">
                <a:lnSpc>
                  <a:spcPts val="2160"/>
                </a:lnSpc>
              </a:pPr>
              <a:endParaRPr/>
            </a:p>
          </p:txBody>
        </p:sp>
      </p:grpSp>
      <p:sp>
        <p:nvSpPr>
          <p:cNvPr id="6" name="TextBox 6"/>
          <p:cNvSpPr txBox="1"/>
          <p:nvPr/>
        </p:nvSpPr>
        <p:spPr>
          <a:xfrm>
            <a:off x="1028700" y="824418"/>
            <a:ext cx="11581812" cy="605790"/>
          </a:xfrm>
          <a:prstGeom prst="rect">
            <a:avLst/>
          </a:prstGeom>
        </p:spPr>
        <p:txBody>
          <a:bodyPr lIns="0" tIns="0" rIns="0" bIns="0" rtlCol="0" anchor="t">
            <a:spAutoFit/>
          </a:bodyPr>
          <a:lstStyle/>
          <a:p>
            <a:pPr algn="l">
              <a:lnSpc>
                <a:spcPts val="4620"/>
              </a:lnSpc>
            </a:pPr>
            <a:r>
              <a:rPr lang="en-US" sz="4200" b="1" spc="-168">
                <a:solidFill>
                  <a:srgbClr val="000000"/>
                </a:solidFill>
                <a:latin typeface="Public Sans Bold"/>
                <a:ea typeface="Public Sans Bold"/>
                <a:cs typeface="Public Sans Bold"/>
                <a:sym typeface="Public Sans Bold"/>
              </a:rPr>
              <a:t>What Problem Are We Solving?</a:t>
            </a:r>
          </a:p>
        </p:txBody>
      </p:sp>
      <p:sp>
        <p:nvSpPr>
          <p:cNvPr id="7" name="TextBox 7"/>
          <p:cNvSpPr txBox="1"/>
          <p:nvPr/>
        </p:nvSpPr>
        <p:spPr>
          <a:xfrm>
            <a:off x="1028700" y="2713996"/>
            <a:ext cx="10437329" cy="1179195"/>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Fantasy players must choose 11 cricketers before a match starts. We predict each player’s fantasy points from recent form, batting, bowling and match context, so squad and captain picks are data-driven.</a:t>
            </a:r>
          </a:p>
        </p:txBody>
      </p:sp>
      <p:sp>
        <p:nvSpPr>
          <p:cNvPr id="8" name="TextBox 8"/>
          <p:cNvSpPr txBox="1"/>
          <p:nvPr/>
        </p:nvSpPr>
        <p:spPr>
          <a:xfrm>
            <a:off x="1028700" y="5058657"/>
            <a:ext cx="7315200" cy="371475"/>
          </a:xfrm>
          <a:prstGeom prst="rect">
            <a:avLst/>
          </a:prstGeom>
        </p:spPr>
        <p:txBody>
          <a:bodyPr lIns="0" tIns="0" rIns="0" bIns="0" rtlCol="0" anchor="t">
            <a:spAutoFit/>
          </a:bodyPr>
          <a:lstStyle/>
          <a:p>
            <a:pPr algn="l">
              <a:lnSpc>
                <a:spcPts val="2879"/>
              </a:lnSpc>
            </a:pPr>
            <a:r>
              <a:rPr lang="en-US" sz="2400" b="1">
                <a:solidFill>
                  <a:srgbClr val="000000"/>
                </a:solidFill>
                <a:latin typeface="Public Sans Bold"/>
                <a:ea typeface="Public Sans Bold"/>
                <a:cs typeface="Public Sans Bold"/>
                <a:sym typeface="Public Sans Bold"/>
              </a:rPr>
              <a:t>The Dataset at a Glance</a:t>
            </a:r>
          </a:p>
        </p:txBody>
      </p:sp>
      <p:sp>
        <p:nvSpPr>
          <p:cNvPr id="9" name="Freeform 9"/>
          <p:cNvSpPr/>
          <p:nvPr/>
        </p:nvSpPr>
        <p:spPr>
          <a:xfrm>
            <a:off x="1028700" y="5817416"/>
            <a:ext cx="1913931" cy="1910600"/>
          </a:xfrm>
          <a:custGeom>
            <a:avLst/>
            <a:gdLst/>
            <a:ahLst/>
            <a:cxnLst/>
            <a:rect l="l" t="t" r="r" b="b"/>
            <a:pathLst>
              <a:path w="1913931" h="1910600">
                <a:moveTo>
                  <a:pt x="0" y="0"/>
                </a:moveTo>
                <a:lnTo>
                  <a:pt x="1913931" y="0"/>
                </a:lnTo>
                <a:lnTo>
                  <a:pt x="1913931" y="1910600"/>
                </a:lnTo>
                <a:lnTo>
                  <a:pt x="0" y="1910600"/>
                </a:lnTo>
                <a:lnTo>
                  <a:pt x="0" y="0"/>
                </a:lnTo>
                <a:close/>
              </a:path>
            </a:pathLst>
          </a:custGeom>
          <a:blipFill>
            <a:blip r:embed="rId4"/>
            <a:stretch>
              <a:fillRect/>
            </a:stretch>
          </a:blipFill>
        </p:spPr>
        <p:txBody>
          <a:bodyPr/>
          <a:lstStyle/>
          <a:p>
            <a:endParaRPr/>
          </a:p>
        </p:txBody>
      </p:sp>
      <p:sp>
        <p:nvSpPr>
          <p:cNvPr id="10" name="TextBox 10"/>
          <p:cNvSpPr txBox="1"/>
          <p:nvPr/>
        </p:nvSpPr>
        <p:spPr>
          <a:xfrm>
            <a:off x="1028700" y="8058150"/>
            <a:ext cx="3004247" cy="266700"/>
          </a:xfrm>
          <a:prstGeom prst="rect">
            <a:avLst/>
          </a:prstGeom>
        </p:spPr>
        <p:txBody>
          <a:bodyPr lIns="0" tIns="0" rIns="0" bIns="0" rtlCol="0" anchor="t">
            <a:spAutoFit/>
          </a:bodyPr>
          <a:lstStyle/>
          <a:p>
            <a:pPr algn="l">
              <a:lnSpc>
                <a:spcPts val="2160"/>
              </a:lnSpc>
            </a:pPr>
            <a:r>
              <a:rPr lang="en-US" sz="1800" b="1">
                <a:solidFill>
                  <a:srgbClr val="000000"/>
                </a:solidFill>
                <a:latin typeface="Public Sans Bold"/>
                <a:ea typeface="Public Sans Bold"/>
                <a:cs typeface="Public Sans Bold"/>
                <a:sym typeface="Public Sans Bold"/>
              </a:rPr>
              <a:t>2,741 records</a:t>
            </a:r>
          </a:p>
        </p:txBody>
      </p:sp>
      <p:sp>
        <p:nvSpPr>
          <p:cNvPr id="11" name="TextBox 11"/>
          <p:cNvSpPr txBox="1"/>
          <p:nvPr/>
        </p:nvSpPr>
        <p:spPr>
          <a:xfrm>
            <a:off x="1028700" y="8448675"/>
            <a:ext cx="3004247" cy="266700"/>
          </a:xfrm>
          <a:prstGeom prst="rect">
            <a:avLst/>
          </a:prstGeom>
        </p:spPr>
        <p:txBody>
          <a:bodyPr lIns="0" tIns="0" rIns="0" bIns="0" rtlCol="0" anchor="t">
            <a:spAutoFit/>
          </a:bodyPr>
          <a:lstStyle/>
          <a:p>
            <a:pPr algn="l">
              <a:lnSpc>
                <a:spcPts val="2160"/>
              </a:lnSpc>
            </a:pPr>
            <a:r>
              <a:rPr lang="en-US" sz="1800">
                <a:solidFill>
                  <a:srgbClr val="000000"/>
                </a:solidFill>
                <a:latin typeface="Public Sans"/>
                <a:ea typeface="Public Sans"/>
                <a:cs typeface="Public Sans"/>
                <a:sym typeface="Public Sans"/>
              </a:rPr>
              <a:t>Player-match rows, 2026</a:t>
            </a:r>
          </a:p>
        </p:txBody>
      </p:sp>
      <p:sp>
        <p:nvSpPr>
          <p:cNvPr id="12" name="Freeform 12"/>
          <p:cNvSpPr/>
          <p:nvPr/>
        </p:nvSpPr>
        <p:spPr>
          <a:xfrm>
            <a:off x="7128049" y="5817416"/>
            <a:ext cx="1913931" cy="1910600"/>
          </a:xfrm>
          <a:custGeom>
            <a:avLst/>
            <a:gdLst/>
            <a:ahLst/>
            <a:cxnLst/>
            <a:rect l="l" t="t" r="r" b="b"/>
            <a:pathLst>
              <a:path w="1913931" h="1910600">
                <a:moveTo>
                  <a:pt x="0" y="0"/>
                </a:moveTo>
                <a:lnTo>
                  <a:pt x="1913932" y="0"/>
                </a:lnTo>
                <a:lnTo>
                  <a:pt x="1913932" y="1910600"/>
                </a:lnTo>
                <a:lnTo>
                  <a:pt x="0" y="1910600"/>
                </a:lnTo>
                <a:lnTo>
                  <a:pt x="0" y="0"/>
                </a:lnTo>
                <a:close/>
              </a:path>
            </a:pathLst>
          </a:custGeom>
          <a:blipFill>
            <a:blip r:embed="rId5"/>
            <a:stretch>
              <a:fillRect/>
            </a:stretch>
          </a:blipFill>
        </p:spPr>
        <p:txBody>
          <a:bodyPr/>
          <a:lstStyle/>
          <a:p>
            <a:endParaRPr/>
          </a:p>
        </p:txBody>
      </p:sp>
      <p:sp>
        <p:nvSpPr>
          <p:cNvPr id="13" name="TextBox 13"/>
          <p:cNvSpPr txBox="1"/>
          <p:nvPr/>
        </p:nvSpPr>
        <p:spPr>
          <a:xfrm>
            <a:off x="7128049" y="8058150"/>
            <a:ext cx="3004247" cy="266700"/>
          </a:xfrm>
          <a:prstGeom prst="rect">
            <a:avLst/>
          </a:prstGeom>
        </p:spPr>
        <p:txBody>
          <a:bodyPr lIns="0" tIns="0" rIns="0" bIns="0" rtlCol="0" anchor="t">
            <a:spAutoFit/>
          </a:bodyPr>
          <a:lstStyle/>
          <a:p>
            <a:pPr algn="l">
              <a:lnSpc>
                <a:spcPts val="2160"/>
              </a:lnSpc>
            </a:pPr>
            <a:r>
              <a:rPr lang="en-US" sz="1800" b="1">
                <a:solidFill>
                  <a:srgbClr val="000000"/>
                </a:solidFill>
                <a:latin typeface="Public Sans Bold"/>
                <a:ea typeface="Public Sans Bold"/>
                <a:cs typeface="Public Sans Bold"/>
                <a:sym typeface="Public Sans Bold"/>
              </a:rPr>
              <a:t>163 players</a:t>
            </a:r>
          </a:p>
        </p:txBody>
      </p:sp>
      <p:sp>
        <p:nvSpPr>
          <p:cNvPr id="14" name="TextBox 14"/>
          <p:cNvSpPr txBox="1"/>
          <p:nvPr/>
        </p:nvSpPr>
        <p:spPr>
          <a:xfrm>
            <a:off x="7128049" y="8448675"/>
            <a:ext cx="3004247" cy="266700"/>
          </a:xfrm>
          <a:prstGeom prst="rect">
            <a:avLst/>
          </a:prstGeom>
        </p:spPr>
        <p:txBody>
          <a:bodyPr lIns="0" tIns="0" rIns="0" bIns="0" rtlCol="0" anchor="t">
            <a:spAutoFit/>
          </a:bodyPr>
          <a:lstStyle/>
          <a:p>
            <a:pPr algn="l">
              <a:lnSpc>
                <a:spcPts val="2160"/>
              </a:lnSpc>
            </a:pPr>
            <a:r>
              <a:rPr lang="en-US" sz="1800">
                <a:solidFill>
                  <a:srgbClr val="000000"/>
                </a:solidFill>
                <a:latin typeface="Public Sans"/>
                <a:ea typeface="Public Sans"/>
                <a:cs typeface="Public Sans"/>
                <a:sym typeface="Public Sans"/>
              </a:rPr>
              <a:t>Across 10 IPL teams</a:t>
            </a:r>
          </a:p>
        </p:txBody>
      </p:sp>
      <p:sp>
        <p:nvSpPr>
          <p:cNvPr id="15" name="Freeform 15"/>
          <p:cNvSpPr/>
          <p:nvPr/>
        </p:nvSpPr>
        <p:spPr>
          <a:xfrm>
            <a:off x="13227399" y="5817416"/>
            <a:ext cx="1913931" cy="1910600"/>
          </a:xfrm>
          <a:custGeom>
            <a:avLst/>
            <a:gdLst/>
            <a:ahLst/>
            <a:cxnLst/>
            <a:rect l="l" t="t" r="r" b="b"/>
            <a:pathLst>
              <a:path w="1913931" h="1910600">
                <a:moveTo>
                  <a:pt x="0" y="0"/>
                </a:moveTo>
                <a:lnTo>
                  <a:pt x="1913931" y="0"/>
                </a:lnTo>
                <a:lnTo>
                  <a:pt x="1913931" y="1910600"/>
                </a:lnTo>
                <a:lnTo>
                  <a:pt x="0" y="1910600"/>
                </a:lnTo>
                <a:lnTo>
                  <a:pt x="0" y="0"/>
                </a:lnTo>
                <a:close/>
              </a:path>
            </a:pathLst>
          </a:custGeom>
          <a:blipFill>
            <a:blip r:embed="rId6"/>
            <a:stretch>
              <a:fillRect/>
            </a:stretch>
          </a:blipFill>
        </p:spPr>
        <p:txBody>
          <a:bodyPr/>
          <a:lstStyle/>
          <a:p>
            <a:endParaRPr/>
          </a:p>
        </p:txBody>
      </p:sp>
      <p:sp>
        <p:nvSpPr>
          <p:cNvPr id="16" name="TextBox 16"/>
          <p:cNvSpPr txBox="1"/>
          <p:nvPr/>
        </p:nvSpPr>
        <p:spPr>
          <a:xfrm>
            <a:off x="13227399" y="8058150"/>
            <a:ext cx="3004247" cy="266700"/>
          </a:xfrm>
          <a:prstGeom prst="rect">
            <a:avLst/>
          </a:prstGeom>
        </p:spPr>
        <p:txBody>
          <a:bodyPr lIns="0" tIns="0" rIns="0" bIns="0" rtlCol="0" anchor="t">
            <a:spAutoFit/>
          </a:bodyPr>
          <a:lstStyle/>
          <a:p>
            <a:pPr algn="l">
              <a:lnSpc>
                <a:spcPts val="2160"/>
              </a:lnSpc>
            </a:pPr>
            <a:r>
              <a:rPr lang="en-US" sz="1800" b="1">
                <a:solidFill>
                  <a:srgbClr val="000000"/>
                </a:solidFill>
                <a:latin typeface="Public Sans Bold"/>
                <a:ea typeface="Public Sans Bold"/>
                <a:cs typeface="Public Sans Bold"/>
                <a:sym typeface="Public Sans Bold"/>
              </a:rPr>
              <a:t>130 matches</a:t>
            </a:r>
          </a:p>
        </p:txBody>
      </p:sp>
      <p:sp>
        <p:nvSpPr>
          <p:cNvPr id="17" name="TextBox 17"/>
          <p:cNvSpPr txBox="1"/>
          <p:nvPr/>
        </p:nvSpPr>
        <p:spPr>
          <a:xfrm>
            <a:off x="13227399" y="8448675"/>
            <a:ext cx="3004247" cy="266700"/>
          </a:xfrm>
          <a:prstGeom prst="rect">
            <a:avLst/>
          </a:prstGeom>
        </p:spPr>
        <p:txBody>
          <a:bodyPr lIns="0" tIns="0" rIns="0" bIns="0" rtlCol="0" anchor="t">
            <a:spAutoFit/>
          </a:bodyPr>
          <a:lstStyle/>
          <a:p>
            <a:pPr algn="l">
              <a:lnSpc>
                <a:spcPts val="2160"/>
              </a:lnSpc>
            </a:pPr>
            <a:r>
              <a:rPr lang="en-US" sz="1800">
                <a:solidFill>
                  <a:srgbClr val="000000"/>
                </a:solidFill>
                <a:latin typeface="Public Sans"/>
                <a:ea typeface="Public Sans"/>
                <a:cs typeface="Public Sans"/>
                <a:sym typeface="Public Sans"/>
              </a:rPr>
              <a:t>About 21 players each</a:t>
            </a:r>
          </a:p>
        </p:txBody>
      </p:sp>
      <p:sp>
        <p:nvSpPr>
          <p:cNvPr id="18" name="TextBox 18"/>
          <p:cNvSpPr txBox="1"/>
          <p:nvPr/>
        </p:nvSpPr>
        <p:spPr>
          <a:xfrm>
            <a:off x="16486632" y="8945880"/>
            <a:ext cx="777240" cy="312420"/>
          </a:xfrm>
          <a:prstGeom prst="rect">
            <a:avLst/>
          </a:prstGeom>
        </p:spPr>
        <p:txBody>
          <a:bodyPr lIns="0" tIns="0" rIns="0" bIns="0" rtlCol="0" anchor="t">
            <a:spAutoFit/>
          </a:bodyPr>
          <a:lstStyle/>
          <a:p>
            <a:pPr algn="r">
              <a:lnSpc>
                <a:spcPts val="2310"/>
              </a:lnSpc>
            </a:pPr>
            <a:r>
              <a:rPr lang="en-US" sz="2100" b="1">
                <a:solidFill>
                  <a:srgbClr val="FDF8F0"/>
                </a:solidFill>
                <a:latin typeface="Public Sans Bold"/>
                <a:ea typeface="Public Sans Bold"/>
                <a:cs typeface="Public Sans Bold"/>
                <a:sym typeface="Public Sans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100000"/>
              </a:srgbClr>
            </a:gs>
            <a:gs pos="100000">
              <a:srgbClr val="FDF8F0">
                <a:alpha val="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0" y="0"/>
            <a:ext cx="4548073" cy="10287000"/>
          </a:xfrm>
          <a:custGeom>
            <a:avLst/>
            <a:gdLst/>
            <a:ahLst/>
            <a:cxnLst/>
            <a:rect l="l" t="t" r="r" b="b"/>
            <a:pathLst>
              <a:path w="4548073" h="10287000">
                <a:moveTo>
                  <a:pt x="0" y="0"/>
                </a:moveTo>
                <a:lnTo>
                  <a:pt x="4548073" y="0"/>
                </a:lnTo>
                <a:lnTo>
                  <a:pt x="4548073" y="10287000"/>
                </a:lnTo>
                <a:lnTo>
                  <a:pt x="0" y="10287000"/>
                </a:lnTo>
                <a:lnTo>
                  <a:pt x="0" y="0"/>
                </a:lnTo>
                <a:close/>
              </a:path>
            </a:pathLst>
          </a:custGeom>
          <a:blipFill>
            <a:blip r:embed="rId3"/>
            <a:stretch>
              <a:fillRect/>
            </a:stretch>
          </a:blipFill>
        </p:spPr>
        <p:txBody>
          <a:bodyPr/>
          <a:lstStyle/>
          <a:p>
            <a:endParaRPr/>
          </a:p>
        </p:txBody>
      </p:sp>
      <p:sp>
        <p:nvSpPr>
          <p:cNvPr id="3" name="TextBox 3"/>
          <p:cNvSpPr txBox="1"/>
          <p:nvPr/>
        </p:nvSpPr>
        <p:spPr>
          <a:xfrm>
            <a:off x="5677488" y="824418"/>
            <a:ext cx="11581812" cy="605790"/>
          </a:xfrm>
          <a:prstGeom prst="rect">
            <a:avLst/>
          </a:prstGeom>
        </p:spPr>
        <p:txBody>
          <a:bodyPr lIns="0" tIns="0" rIns="0" bIns="0" rtlCol="0" anchor="t">
            <a:spAutoFit/>
          </a:bodyPr>
          <a:lstStyle/>
          <a:p>
            <a:pPr algn="l">
              <a:lnSpc>
                <a:spcPts val="4620"/>
              </a:lnSpc>
            </a:pPr>
            <a:r>
              <a:rPr lang="en-US" sz="4200" b="1" spc="-168">
                <a:solidFill>
                  <a:srgbClr val="000000"/>
                </a:solidFill>
                <a:latin typeface="Public Sans Bold"/>
                <a:ea typeface="Public Sans Bold"/>
                <a:cs typeface="Public Sans Bold"/>
                <a:sym typeface="Public Sans Bold"/>
              </a:rPr>
              <a:t>17 Features in Three Groups</a:t>
            </a:r>
          </a:p>
        </p:txBody>
      </p:sp>
      <p:sp>
        <p:nvSpPr>
          <p:cNvPr id="4" name="TextBox 4"/>
          <p:cNvSpPr txBox="1"/>
          <p:nvPr/>
        </p:nvSpPr>
        <p:spPr>
          <a:xfrm>
            <a:off x="5677488" y="3193662"/>
            <a:ext cx="10437329" cy="7886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Team, opponent, role, home/away and opponent strength (1–5). Four are categorical and handled natively by LightGBM.</a:t>
            </a:r>
          </a:p>
        </p:txBody>
      </p:sp>
      <p:sp>
        <p:nvSpPr>
          <p:cNvPr id="5" name="TextBox 5"/>
          <p:cNvSpPr txBox="1"/>
          <p:nvPr/>
        </p:nvSpPr>
        <p:spPr>
          <a:xfrm>
            <a:off x="5677488" y="2742571"/>
            <a:ext cx="10433304" cy="371475"/>
          </a:xfrm>
          <a:prstGeom prst="rect">
            <a:avLst/>
          </a:prstGeom>
        </p:spPr>
        <p:txBody>
          <a:bodyPr lIns="0" tIns="0" rIns="0" bIns="0" rtlCol="0" anchor="t">
            <a:spAutoFit/>
          </a:bodyPr>
          <a:lstStyle/>
          <a:p>
            <a:pPr algn="l">
              <a:lnSpc>
                <a:spcPts val="2879"/>
              </a:lnSpc>
            </a:pPr>
            <a:r>
              <a:rPr lang="en-US" sz="2400" b="1">
                <a:solidFill>
                  <a:srgbClr val="000000"/>
                </a:solidFill>
                <a:latin typeface="Public Sans Bold"/>
                <a:ea typeface="Public Sans Bold"/>
                <a:cs typeface="Public Sans Bold"/>
                <a:sym typeface="Public Sans Bold"/>
              </a:rPr>
              <a:t>Match Context (5)</a:t>
            </a:r>
          </a:p>
        </p:txBody>
      </p:sp>
      <p:sp>
        <p:nvSpPr>
          <p:cNvPr id="6" name="TextBox 6"/>
          <p:cNvSpPr txBox="1"/>
          <p:nvPr/>
        </p:nvSpPr>
        <p:spPr>
          <a:xfrm>
            <a:off x="16486632" y="8945880"/>
            <a:ext cx="777240" cy="312420"/>
          </a:xfrm>
          <a:prstGeom prst="rect">
            <a:avLst/>
          </a:prstGeom>
        </p:spPr>
        <p:txBody>
          <a:bodyPr lIns="0" tIns="0" rIns="0" bIns="0" rtlCol="0" anchor="t">
            <a:spAutoFit/>
          </a:bodyPr>
          <a:lstStyle/>
          <a:p>
            <a:pPr algn="r">
              <a:lnSpc>
                <a:spcPts val="2310"/>
              </a:lnSpc>
            </a:pPr>
            <a:r>
              <a:rPr lang="en-US" sz="2100" b="1">
                <a:solidFill>
                  <a:srgbClr val="000000"/>
                </a:solidFill>
                <a:latin typeface="Public Sans Bold"/>
                <a:ea typeface="Public Sans Bold"/>
                <a:cs typeface="Public Sans Bold"/>
                <a:sym typeface="Public Sans Bold"/>
              </a:rPr>
              <a:t>3</a:t>
            </a:r>
          </a:p>
        </p:txBody>
      </p:sp>
      <p:sp>
        <p:nvSpPr>
          <p:cNvPr id="7" name="TextBox 7"/>
          <p:cNvSpPr txBox="1"/>
          <p:nvPr/>
        </p:nvSpPr>
        <p:spPr>
          <a:xfrm>
            <a:off x="5677488" y="5147585"/>
            <a:ext cx="10437329" cy="7886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Per-player averages for runs, strike rate, boundaries, wickets, economy and overs — the skill profile.</a:t>
            </a:r>
          </a:p>
        </p:txBody>
      </p:sp>
      <p:sp>
        <p:nvSpPr>
          <p:cNvPr id="8" name="TextBox 8"/>
          <p:cNvSpPr txBox="1"/>
          <p:nvPr/>
        </p:nvSpPr>
        <p:spPr>
          <a:xfrm>
            <a:off x="5677488" y="4696494"/>
            <a:ext cx="10433304" cy="371475"/>
          </a:xfrm>
          <a:prstGeom prst="rect">
            <a:avLst/>
          </a:prstGeom>
        </p:spPr>
        <p:txBody>
          <a:bodyPr lIns="0" tIns="0" rIns="0" bIns="0" rtlCol="0" anchor="t">
            <a:spAutoFit/>
          </a:bodyPr>
          <a:lstStyle/>
          <a:p>
            <a:pPr algn="l">
              <a:lnSpc>
                <a:spcPts val="2879"/>
              </a:lnSpc>
            </a:pPr>
            <a:r>
              <a:rPr lang="en-US" sz="2400" b="1">
                <a:solidFill>
                  <a:srgbClr val="000000"/>
                </a:solidFill>
                <a:latin typeface="Public Sans Bold"/>
                <a:ea typeface="Public Sans Bold"/>
                <a:cs typeface="Public Sans Bold"/>
                <a:sym typeface="Public Sans Bold"/>
              </a:rPr>
              <a:t>Batting &amp; Bowling (8)</a:t>
            </a:r>
          </a:p>
        </p:txBody>
      </p:sp>
      <p:sp>
        <p:nvSpPr>
          <p:cNvPr id="9" name="TextBox 9"/>
          <p:cNvSpPr txBox="1"/>
          <p:nvPr/>
        </p:nvSpPr>
        <p:spPr>
          <a:xfrm>
            <a:off x="5677488" y="7101508"/>
            <a:ext cx="10437329" cy="7886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Recent points, recent average, form rating and playing-time %. Missing values are filled with training medians.</a:t>
            </a:r>
          </a:p>
        </p:txBody>
      </p:sp>
      <p:sp>
        <p:nvSpPr>
          <p:cNvPr id="10" name="TextBox 10"/>
          <p:cNvSpPr txBox="1"/>
          <p:nvPr/>
        </p:nvSpPr>
        <p:spPr>
          <a:xfrm>
            <a:off x="5677488" y="6650417"/>
            <a:ext cx="10433304" cy="371475"/>
          </a:xfrm>
          <a:prstGeom prst="rect">
            <a:avLst/>
          </a:prstGeom>
        </p:spPr>
        <p:txBody>
          <a:bodyPr lIns="0" tIns="0" rIns="0" bIns="0" rtlCol="0" anchor="t">
            <a:spAutoFit/>
          </a:bodyPr>
          <a:lstStyle/>
          <a:p>
            <a:pPr algn="l">
              <a:lnSpc>
                <a:spcPts val="2879"/>
              </a:lnSpc>
            </a:pPr>
            <a:r>
              <a:rPr lang="en-US" sz="2400" b="1">
                <a:solidFill>
                  <a:srgbClr val="000000"/>
                </a:solidFill>
                <a:latin typeface="Public Sans Bold"/>
                <a:ea typeface="Public Sans Bold"/>
                <a:cs typeface="Public Sans Bold"/>
                <a:sym typeface="Public Sans Bold"/>
              </a:rPr>
              <a:t>Form &amp; Availability (4)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100000"/>
              </a:srgbClr>
            </a:gs>
            <a:gs pos="100000">
              <a:srgbClr val="FDF8F0">
                <a:alpha val="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824418"/>
            <a:ext cx="11581812" cy="605790"/>
          </a:xfrm>
          <a:prstGeom prst="rect">
            <a:avLst/>
          </a:prstGeom>
        </p:spPr>
        <p:txBody>
          <a:bodyPr lIns="0" tIns="0" rIns="0" bIns="0" rtlCol="0" anchor="t">
            <a:spAutoFit/>
          </a:bodyPr>
          <a:lstStyle/>
          <a:p>
            <a:pPr algn="l">
              <a:lnSpc>
                <a:spcPts val="4620"/>
              </a:lnSpc>
            </a:pPr>
            <a:r>
              <a:rPr lang="en-US" sz="4200" b="1" spc="-168">
                <a:solidFill>
                  <a:srgbClr val="000000"/>
                </a:solidFill>
                <a:latin typeface="Public Sans Bold"/>
                <a:ea typeface="Public Sans Bold"/>
                <a:cs typeface="Public Sans Bold"/>
                <a:sym typeface="Public Sans Bold"/>
              </a:rPr>
              <a:t>End-to-End ML Pipeline</a:t>
            </a:r>
          </a:p>
        </p:txBody>
      </p:sp>
      <p:sp>
        <p:nvSpPr>
          <p:cNvPr id="3" name="TextBox 3"/>
          <p:cNvSpPr txBox="1"/>
          <p:nvPr/>
        </p:nvSpPr>
        <p:spPr>
          <a:xfrm>
            <a:off x="16486632" y="8945880"/>
            <a:ext cx="777240" cy="312420"/>
          </a:xfrm>
          <a:prstGeom prst="rect">
            <a:avLst/>
          </a:prstGeom>
        </p:spPr>
        <p:txBody>
          <a:bodyPr lIns="0" tIns="0" rIns="0" bIns="0" rtlCol="0" anchor="t">
            <a:spAutoFit/>
          </a:bodyPr>
          <a:lstStyle/>
          <a:p>
            <a:pPr algn="r">
              <a:lnSpc>
                <a:spcPts val="2310"/>
              </a:lnSpc>
            </a:pPr>
            <a:r>
              <a:rPr lang="en-US" sz="2100" b="1">
                <a:solidFill>
                  <a:srgbClr val="000000"/>
                </a:solidFill>
                <a:latin typeface="Public Sans Bold"/>
                <a:ea typeface="Public Sans Bold"/>
                <a:cs typeface="Public Sans Bold"/>
                <a:sym typeface="Public Sans Bold"/>
              </a:rPr>
              <a:t>5</a:t>
            </a:r>
          </a:p>
        </p:txBody>
      </p:sp>
      <p:sp>
        <p:nvSpPr>
          <p:cNvPr id="4" name="TextBox 4"/>
          <p:cNvSpPr txBox="1"/>
          <p:nvPr/>
        </p:nvSpPr>
        <p:spPr>
          <a:xfrm>
            <a:off x="1028700" y="5379091"/>
            <a:ext cx="3267227" cy="23507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Fill missing values with training medians and sort rows by match_id.</a:t>
            </a:r>
          </a:p>
        </p:txBody>
      </p:sp>
      <p:sp>
        <p:nvSpPr>
          <p:cNvPr id="5" name="TextBox 5"/>
          <p:cNvSpPr txBox="1"/>
          <p:nvPr/>
        </p:nvSpPr>
        <p:spPr>
          <a:xfrm>
            <a:off x="1028700" y="2742571"/>
            <a:ext cx="3267227" cy="1343025"/>
          </a:xfrm>
          <a:prstGeom prst="rect">
            <a:avLst/>
          </a:prstGeom>
        </p:spPr>
        <p:txBody>
          <a:bodyPr lIns="0" tIns="0" rIns="0" bIns="0" rtlCol="0" anchor="t">
            <a:spAutoFit/>
          </a:bodyPr>
          <a:lstStyle/>
          <a:p>
            <a:pPr algn="l">
              <a:lnSpc>
                <a:spcPts val="10559"/>
              </a:lnSpc>
            </a:pPr>
            <a:r>
              <a:rPr lang="en-US" sz="8799" b="1">
                <a:solidFill>
                  <a:srgbClr val="000000">
                    <a:alpha val="19608"/>
                  </a:srgbClr>
                </a:solidFill>
                <a:latin typeface="Public Sans Bold"/>
                <a:ea typeface="Public Sans Bold"/>
                <a:cs typeface="Public Sans Bold"/>
                <a:sym typeface="Public Sans Bold"/>
              </a:rPr>
              <a:t>1</a:t>
            </a:r>
          </a:p>
        </p:txBody>
      </p:sp>
      <p:sp>
        <p:nvSpPr>
          <p:cNvPr id="6" name="TextBox 6"/>
          <p:cNvSpPr txBox="1"/>
          <p:nvPr/>
        </p:nvSpPr>
        <p:spPr>
          <a:xfrm>
            <a:off x="1028700" y="4333246"/>
            <a:ext cx="3267227"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Preprocess</a:t>
            </a:r>
          </a:p>
        </p:txBody>
      </p:sp>
      <p:sp>
        <p:nvSpPr>
          <p:cNvPr id="7" name="TextBox 7"/>
          <p:cNvSpPr txBox="1"/>
          <p:nvPr/>
        </p:nvSpPr>
        <p:spPr>
          <a:xfrm>
            <a:off x="5349824" y="5379091"/>
            <a:ext cx="3267227" cy="23507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Earlier matches train the model; the last 549 rows are held out for testing.</a:t>
            </a:r>
          </a:p>
        </p:txBody>
      </p:sp>
      <p:sp>
        <p:nvSpPr>
          <p:cNvPr id="8" name="TextBox 8"/>
          <p:cNvSpPr txBox="1"/>
          <p:nvPr/>
        </p:nvSpPr>
        <p:spPr>
          <a:xfrm>
            <a:off x="5349824" y="2742571"/>
            <a:ext cx="3267227" cy="1343025"/>
          </a:xfrm>
          <a:prstGeom prst="rect">
            <a:avLst/>
          </a:prstGeom>
        </p:spPr>
        <p:txBody>
          <a:bodyPr lIns="0" tIns="0" rIns="0" bIns="0" rtlCol="0" anchor="t">
            <a:spAutoFit/>
          </a:bodyPr>
          <a:lstStyle/>
          <a:p>
            <a:pPr algn="l">
              <a:lnSpc>
                <a:spcPts val="10559"/>
              </a:lnSpc>
            </a:pPr>
            <a:r>
              <a:rPr lang="en-US" sz="8799" b="1">
                <a:solidFill>
                  <a:srgbClr val="000000">
                    <a:alpha val="19608"/>
                  </a:srgbClr>
                </a:solidFill>
                <a:latin typeface="Public Sans Bold"/>
                <a:ea typeface="Public Sans Bold"/>
                <a:cs typeface="Public Sans Bold"/>
                <a:sym typeface="Public Sans Bold"/>
              </a:rPr>
              <a:t>2</a:t>
            </a:r>
          </a:p>
        </p:txBody>
      </p:sp>
      <p:sp>
        <p:nvSpPr>
          <p:cNvPr id="9" name="TextBox 9"/>
          <p:cNvSpPr txBox="1"/>
          <p:nvPr/>
        </p:nvSpPr>
        <p:spPr>
          <a:xfrm>
            <a:off x="5349824" y="4333246"/>
            <a:ext cx="3267227"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Split 80 / 20</a:t>
            </a:r>
          </a:p>
        </p:txBody>
      </p:sp>
      <p:sp>
        <p:nvSpPr>
          <p:cNvPr id="10" name="TextBox 10"/>
          <p:cNvSpPr txBox="1"/>
          <p:nvPr/>
        </p:nvSpPr>
        <p:spPr>
          <a:xfrm>
            <a:off x="9670949" y="5379091"/>
            <a:ext cx="3267227" cy="2741295"/>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LightGBM boosted trees with early stopping; best fit at 197 trees.</a:t>
            </a:r>
          </a:p>
        </p:txBody>
      </p:sp>
      <p:sp>
        <p:nvSpPr>
          <p:cNvPr id="11" name="TextBox 11"/>
          <p:cNvSpPr txBox="1"/>
          <p:nvPr/>
        </p:nvSpPr>
        <p:spPr>
          <a:xfrm>
            <a:off x="9670949" y="2742571"/>
            <a:ext cx="3267227" cy="1343025"/>
          </a:xfrm>
          <a:prstGeom prst="rect">
            <a:avLst/>
          </a:prstGeom>
        </p:spPr>
        <p:txBody>
          <a:bodyPr lIns="0" tIns="0" rIns="0" bIns="0" rtlCol="0" anchor="t">
            <a:spAutoFit/>
          </a:bodyPr>
          <a:lstStyle/>
          <a:p>
            <a:pPr algn="l">
              <a:lnSpc>
                <a:spcPts val="10559"/>
              </a:lnSpc>
            </a:pPr>
            <a:r>
              <a:rPr lang="en-US" sz="8799" b="1">
                <a:solidFill>
                  <a:srgbClr val="000000">
                    <a:alpha val="19608"/>
                  </a:srgbClr>
                </a:solidFill>
                <a:latin typeface="Public Sans Bold"/>
                <a:ea typeface="Public Sans Bold"/>
                <a:cs typeface="Public Sans Bold"/>
                <a:sym typeface="Public Sans Bold"/>
              </a:rPr>
              <a:t>3</a:t>
            </a:r>
          </a:p>
        </p:txBody>
      </p:sp>
      <p:sp>
        <p:nvSpPr>
          <p:cNvPr id="12" name="TextBox 12"/>
          <p:cNvSpPr txBox="1"/>
          <p:nvPr/>
        </p:nvSpPr>
        <p:spPr>
          <a:xfrm>
            <a:off x="9670949" y="4333246"/>
            <a:ext cx="3267227" cy="788670"/>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Train</a:t>
            </a:r>
          </a:p>
        </p:txBody>
      </p:sp>
      <p:sp>
        <p:nvSpPr>
          <p:cNvPr id="13" name="TextBox 13"/>
          <p:cNvSpPr txBox="1"/>
          <p:nvPr/>
        </p:nvSpPr>
        <p:spPr>
          <a:xfrm>
            <a:off x="13992073" y="5379091"/>
            <a:ext cx="3267227" cy="23507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Flask serves Predict, Rankings, Model and EDA pages on port 5000.</a:t>
            </a:r>
          </a:p>
        </p:txBody>
      </p:sp>
      <p:sp>
        <p:nvSpPr>
          <p:cNvPr id="14" name="TextBox 14"/>
          <p:cNvSpPr txBox="1"/>
          <p:nvPr/>
        </p:nvSpPr>
        <p:spPr>
          <a:xfrm>
            <a:off x="13992073" y="2742571"/>
            <a:ext cx="3267227" cy="1343025"/>
          </a:xfrm>
          <a:prstGeom prst="rect">
            <a:avLst/>
          </a:prstGeom>
        </p:spPr>
        <p:txBody>
          <a:bodyPr lIns="0" tIns="0" rIns="0" bIns="0" rtlCol="0" anchor="t">
            <a:spAutoFit/>
          </a:bodyPr>
          <a:lstStyle/>
          <a:p>
            <a:pPr algn="l">
              <a:lnSpc>
                <a:spcPts val="10559"/>
              </a:lnSpc>
            </a:pPr>
            <a:r>
              <a:rPr lang="en-US" sz="8799" b="1">
                <a:solidFill>
                  <a:srgbClr val="000000">
                    <a:alpha val="19608"/>
                  </a:srgbClr>
                </a:solidFill>
                <a:latin typeface="Public Sans Bold"/>
                <a:ea typeface="Public Sans Bold"/>
                <a:cs typeface="Public Sans Bold"/>
                <a:sym typeface="Public Sans Bold"/>
              </a:rPr>
              <a:t>4</a:t>
            </a:r>
          </a:p>
        </p:txBody>
      </p:sp>
      <p:sp>
        <p:nvSpPr>
          <p:cNvPr id="15" name="TextBox 15"/>
          <p:cNvSpPr txBox="1"/>
          <p:nvPr/>
        </p:nvSpPr>
        <p:spPr>
          <a:xfrm>
            <a:off x="13992073" y="4333246"/>
            <a:ext cx="3267227"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Deploy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100000"/>
              </a:srgbClr>
            </a:gs>
            <a:gs pos="100000">
              <a:srgbClr val="FDF8F0">
                <a:alpha val="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914400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a:stretch>
          </a:blipFill>
          <a:ln cap="sq">
            <a:noFill/>
            <a:prstDash val="solid"/>
            <a:miter/>
          </a:ln>
        </p:spPr>
        <p:txBody>
          <a:bodyPr/>
          <a:lstStyle/>
          <a:p>
            <a:endParaRPr/>
          </a:p>
        </p:txBody>
      </p:sp>
      <p:sp>
        <p:nvSpPr>
          <p:cNvPr id="3" name="TextBox 3"/>
          <p:cNvSpPr txBox="1"/>
          <p:nvPr/>
        </p:nvSpPr>
        <p:spPr>
          <a:xfrm>
            <a:off x="1028700" y="824418"/>
            <a:ext cx="8115300" cy="605790"/>
          </a:xfrm>
          <a:prstGeom prst="rect">
            <a:avLst/>
          </a:prstGeom>
        </p:spPr>
        <p:txBody>
          <a:bodyPr lIns="0" tIns="0" rIns="0" bIns="0" rtlCol="0" anchor="t">
            <a:spAutoFit/>
          </a:bodyPr>
          <a:lstStyle/>
          <a:p>
            <a:pPr algn="l">
              <a:lnSpc>
                <a:spcPts val="4620"/>
              </a:lnSpc>
            </a:pPr>
            <a:r>
              <a:rPr lang="en-US" sz="4200" b="1" spc="-168">
                <a:solidFill>
                  <a:srgbClr val="000000"/>
                </a:solidFill>
                <a:latin typeface="Public Sans Bold"/>
                <a:ea typeface="Public Sans Bold"/>
                <a:cs typeface="Public Sans Bold"/>
                <a:sym typeface="Public Sans Bold"/>
              </a:rPr>
              <a:t>System Architecture</a:t>
            </a:r>
          </a:p>
        </p:txBody>
      </p:sp>
      <p:sp>
        <p:nvSpPr>
          <p:cNvPr id="4" name="TextBox 4"/>
          <p:cNvSpPr txBox="1"/>
          <p:nvPr/>
        </p:nvSpPr>
        <p:spPr>
          <a:xfrm>
            <a:off x="16486632" y="8945880"/>
            <a:ext cx="777240" cy="312420"/>
          </a:xfrm>
          <a:prstGeom prst="rect">
            <a:avLst/>
          </a:prstGeom>
        </p:spPr>
        <p:txBody>
          <a:bodyPr lIns="0" tIns="0" rIns="0" bIns="0" rtlCol="0" anchor="t">
            <a:spAutoFit/>
          </a:bodyPr>
          <a:lstStyle/>
          <a:p>
            <a:pPr algn="r">
              <a:lnSpc>
                <a:spcPts val="2310"/>
              </a:lnSpc>
            </a:pPr>
            <a:r>
              <a:rPr lang="en-US" sz="2100" b="1">
                <a:solidFill>
                  <a:srgbClr val="FDF8F0"/>
                </a:solidFill>
                <a:latin typeface="Public Sans Bold"/>
                <a:ea typeface="Public Sans Bold"/>
                <a:cs typeface="Public Sans Bold"/>
                <a:sym typeface="Public Sans Bold"/>
              </a:rPr>
              <a:t>6</a:t>
            </a:r>
          </a:p>
        </p:txBody>
      </p:sp>
      <p:sp>
        <p:nvSpPr>
          <p:cNvPr id="5" name="TextBox 5"/>
          <p:cNvSpPr txBox="1"/>
          <p:nvPr/>
        </p:nvSpPr>
        <p:spPr>
          <a:xfrm>
            <a:off x="1028700" y="4901843"/>
            <a:ext cx="4461999"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Online Web App</a:t>
            </a:r>
          </a:p>
        </p:txBody>
      </p:sp>
      <p:sp>
        <p:nvSpPr>
          <p:cNvPr id="6" name="TextBox 6"/>
          <p:cNvSpPr txBox="1"/>
          <p:nvPr/>
        </p:nvSpPr>
        <p:spPr>
          <a:xfrm>
            <a:off x="1028700" y="5376188"/>
            <a:ext cx="7340172" cy="1960245"/>
          </a:xfrm>
          <a:prstGeom prst="rect">
            <a:avLst/>
          </a:prstGeom>
        </p:spPr>
        <p:txBody>
          <a:bodyPr lIns="0" tIns="0" rIns="0" bIns="0" rtlCol="0" anchor="t">
            <a:spAutoFit/>
          </a:bodyPr>
          <a:lstStyle/>
          <a:p>
            <a:pPr marL="518160" lvl="1" indent="-259080" algn="l">
              <a:lnSpc>
                <a:spcPts val="3120"/>
              </a:lnSpc>
              <a:buFont typeface="Arial"/>
              <a:buChar char="•"/>
            </a:pPr>
            <a:r>
              <a:rPr lang="en-US" sz="2400">
                <a:solidFill>
                  <a:srgbClr val="000000"/>
                </a:solidFill>
                <a:latin typeface="Public Sans"/>
                <a:ea typeface="Public Sans"/>
                <a:cs typeface="Public Sans"/>
                <a:sym typeface="Public Sans"/>
              </a:rPr>
              <a:t>Flask loads the bundle once at startup</a:t>
            </a:r>
          </a:p>
          <a:p>
            <a:pPr marL="518160" lvl="1" indent="-259080" algn="l">
              <a:lnSpc>
                <a:spcPts val="3120"/>
              </a:lnSpc>
              <a:buFont typeface="Arial"/>
              <a:buChar char="•"/>
            </a:pPr>
            <a:r>
              <a:rPr lang="en-US" sz="2400">
                <a:solidFill>
                  <a:srgbClr val="000000"/>
                </a:solidFill>
                <a:latin typeface="Public Sans"/>
                <a:ea typeface="Public Sans"/>
                <a:cs typeface="Public Sans"/>
                <a:sym typeface="Public Sans"/>
              </a:rPr>
              <a:t>Auto-fill pulls a player’s latest stats</a:t>
            </a:r>
          </a:p>
          <a:p>
            <a:pPr marL="518160" lvl="1" indent="-259080" algn="l">
              <a:lnSpc>
                <a:spcPts val="3120"/>
              </a:lnSpc>
              <a:buFont typeface="Arial"/>
              <a:buChar char="•"/>
            </a:pPr>
            <a:r>
              <a:rPr lang="en-US" sz="2400">
                <a:solidFill>
                  <a:srgbClr val="000000"/>
                </a:solidFill>
                <a:latin typeface="Public Sans"/>
                <a:ea typeface="Public Sans"/>
                <a:cs typeface="Public Sans"/>
                <a:sym typeface="Public Sans"/>
              </a:rPr>
              <a:t>Leaderboard ranks all 163 players</a:t>
            </a:r>
          </a:p>
        </p:txBody>
      </p:sp>
      <p:sp>
        <p:nvSpPr>
          <p:cNvPr id="7" name="TextBox 7"/>
          <p:cNvSpPr txBox="1"/>
          <p:nvPr/>
        </p:nvSpPr>
        <p:spPr>
          <a:xfrm>
            <a:off x="1028700" y="7869833"/>
            <a:ext cx="4461999"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Key Idea</a:t>
            </a:r>
          </a:p>
        </p:txBody>
      </p:sp>
      <p:sp>
        <p:nvSpPr>
          <p:cNvPr id="8" name="TextBox 8"/>
          <p:cNvSpPr txBox="1"/>
          <p:nvPr/>
        </p:nvSpPr>
        <p:spPr>
          <a:xfrm>
            <a:off x="1028700" y="8344178"/>
            <a:ext cx="7340172" cy="7886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The same preprocessing runs at training and prediction time, so inputs match.</a:t>
            </a:r>
          </a:p>
        </p:txBody>
      </p:sp>
      <p:sp>
        <p:nvSpPr>
          <p:cNvPr id="9" name="TextBox 9"/>
          <p:cNvSpPr txBox="1"/>
          <p:nvPr/>
        </p:nvSpPr>
        <p:spPr>
          <a:xfrm>
            <a:off x="1028700" y="3193662"/>
            <a:ext cx="7340172" cy="7886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train.py reads the CSV, fits LightGBM and saves one bundle with medians and categories.</a:t>
            </a:r>
          </a:p>
        </p:txBody>
      </p:sp>
      <p:sp>
        <p:nvSpPr>
          <p:cNvPr id="10" name="TextBox 10"/>
          <p:cNvSpPr txBox="1"/>
          <p:nvPr/>
        </p:nvSpPr>
        <p:spPr>
          <a:xfrm>
            <a:off x="1028700" y="2742571"/>
            <a:ext cx="4391261" cy="371475"/>
          </a:xfrm>
          <a:prstGeom prst="rect">
            <a:avLst/>
          </a:prstGeom>
        </p:spPr>
        <p:txBody>
          <a:bodyPr lIns="0" tIns="0" rIns="0" bIns="0" rtlCol="0" anchor="t">
            <a:spAutoFit/>
          </a:bodyPr>
          <a:lstStyle/>
          <a:p>
            <a:pPr algn="l">
              <a:lnSpc>
                <a:spcPts val="2879"/>
              </a:lnSpc>
            </a:pPr>
            <a:r>
              <a:rPr lang="en-US" sz="2400" b="1">
                <a:solidFill>
                  <a:srgbClr val="000000"/>
                </a:solidFill>
                <a:latin typeface="Public Sans Bold"/>
                <a:ea typeface="Public Sans Bold"/>
                <a:cs typeface="Public Sans Bold"/>
                <a:sym typeface="Public Sans Bold"/>
              </a:rPr>
              <a:t>Offline Training</a:t>
            </a:r>
          </a:p>
        </p:txBody>
      </p:sp>
      <p:sp>
        <p:nvSpPr>
          <p:cNvPr id="11" name="AutoShape 11"/>
          <p:cNvSpPr/>
          <p:nvPr/>
        </p:nvSpPr>
        <p:spPr>
          <a:xfrm flipH="1">
            <a:off x="1028700" y="4461138"/>
            <a:ext cx="8115300" cy="0"/>
          </a:xfrm>
          <a:prstGeom prst="line">
            <a:avLst/>
          </a:prstGeom>
          <a:ln w="9525" cap="flat">
            <a:solidFill>
              <a:srgbClr val="000000">
                <a:alpha val="49804"/>
              </a:srgbClr>
            </a:solidFill>
            <a:prstDash val="solid"/>
            <a:headEnd type="none" w="sm" len="sm"/>
            <a:tailEnd type="none" w="sm" len="sm"/>
          </a:ln>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0"/>
              </a:srgbClr>
            </a:gs>
            <a:gs pos="100000">
              <a:srgbClr val="FDF8F0">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824418"/>
            <a:ext cx="11581812" cy="605790"/>
          </a:xfrm>
          <a:prstGeom prst="rect">
            <a:avLst/>
          </a:prstGeom>
        </p:spPr>
        <p:txBody>
          <a:bodyPr lIns="0" tIns="0" rIns="0" bIns="0" rtlCol="0" anchor="t">
            <a:spAutoFit/>
          </a:bodyPr>
          <a:lstStyle/>
          <a:p>
            <a:pPr algn="l">
              <a:lnSpc>
                <a:spcPts val="4620"/>
              </a:lnSpc>
            </a:pPr>
            <a:r>
              <a:rPr lang="en-US" sz="4200" b="1" spc="-168">
                <a:solidFill>
                  <a:srgbClr val="000000"/>
                </a:solidFill>
                <a:latin typeface="Public Sans Bold"/>
                <a:ea typeface="Public Sans Bold"/>
                <a:cs typeface="Public Sans Bold"/>
                <a:sym typeface="Public Sans Bold"/>
              </a:rPr>
              <a:t>How Well Does It Predict?</a:t>
            </a:r>
          </a:p>
        </p:txBody>
      </p:sp>
      <p:sp>
        <p:nvSpPr>
          <p:cNvPr id="3" name="TextBox 3"/>
          <p:cNvSpPr txBox="1"/>
          <p:nvPr/>
        </p:nvSpPr>
        <p:spPr>
          <a:xfrm>
            <a:off x="16486632" y="8945880"/>
            <a:ext cx="777240" cy="312420"/>
          </a:xfrm>
          <a:prstGeom prst="rect">
            <a:avLst/>
          </a:prstGeom>
        </p:spPr>
        <p:txBody>
          <a:bodyPr lIns="0" tIns="0" rIns="0" bIns="0" rtlCol="0" anchor="t">
            <a:spAutoFit/>
          </a:bodyPr>
          <a:lstStyle/>
          <a:p>
            <a:pPr algn="r">
              <a:lnSpc>
                <a:spcPts val="2310"/>
              </a:lnSpc>
            </a:pPr>
            <a:r>
              <a:rPr lang="en-US" sz="2100" b="1">
                <a:solidFill>
                  <a:srgbClr val="000000"/>
                </a:solidFill>
                <a:latin typeface="Public Sans Bold"/>
                <a:ea typeface="Public Sans Bold"/>
                <a:cs typeface="Public Sans Bold"/>
                <a:sym typeface="Public Sans Bold"/>
              </a:rPr>
              <a:t>7</a:t>
            </a:r>
          </a:p>
        </p:txBody>
      </p:sp>
      <p:sp>
        <p:nvSpPr>
          <p:cNvPr id="4" name="TextBox 4"/>
          <p:cNvSpPr txBox="1"/>
          <p:nvPr/>
        </p:nvSpPr>
        <p:spPr>
          <a:xfrm>
            <a:off x="1028700" y="5105400"/>
            <a:ext cx="4461999"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LightGBM: MAE 8.10</a:t>
            </a:r>
          </a:p>
        </p:txBody>
      </p:sp>
      <p:sp>
        <p:nvSpPr>
          <p:cNvPr id="5" name="TextBox 5"/>
          <p:cNvSpPr txBox="1"/>
          <p:nvPr/>
        </p:nvSpPr>
        <p:spPr>
          <a:xfrm>
            <a:off x="1028700" y="5579745"/>
            <a:ext cx="4461999" cy="23507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R² 0.68 and RMSE 10.17 — it explains about two-thirds of the variance.</a:t>
            </a:r>
          </a:p>
        </p:txBody>
      </p:sp>
      <p:sp>
        <p:nvSpPr>
          <p:cNvPr id="6" name="TextBox 6"/>
          <p:cNvSpPr txBox="1"/>
          <p:nvPr/>
        </p:nvSpPr>
        <p:spPr>
          <a:xfrm>
            <a:off x="6433674" y="5105400"/>
            <a:ext cx="4461999"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Linear: MAE 7.86</a:t>
            </a:r>
          </a:p>
        </p:txBody>
      </p:sp>
      <p:sp>
        <p:nvSpPr>
          <p:cNvPr id="7" name="TextBox 7"/>
          <p:cNvSpPr txBox="1"/>
          <p:nvPr/>
        </p:nvSpPr>
        <p:spPr>
          <a:xfrm>
            <a:off x="6433674" y="5579745"/>
            <a:ext cx="4461999" cy="2741295"/>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Slightly better (R² 0.70), showing the signal in this data is mostly linear.</a:t>
            </a:r>
          </a:p>
        </p:txBody>
      </p:sp>
      <p:sp>
        <p:nvSpPr>
          <p:cNvPr id="8" name="TextBox 8"/>
          <p:cNvSpPr txBox="1"/>
          <p:nvPr/>
        </p:nvSpPr>
        <p:spPr>
          <a:xfrm>
            <a:off x="1028700" y="3193662"/>
            <a:ext cx="10058400" cy="1179195"/>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Tested on the last 20% of matches (549 rows) the model never trained on, against three baseline regressors.</a:t>
            </a:r>
          </a:p>
        </p:txBody>
      </p:sp>
      <p:sp>
        <p:nvSpPr>
          <p:cNvPr id="9" name="TextBox 9"/>
          <p:cNvSpPr txBox="1"/>
          <p:nvPr/>
        </p:nvSpPr>
        <p:spPr>
          <a:xfrm>
            <a:off x="1028700" y="2742571"/>
            <a:ext cx="4391261" cy="371475"/>
          </a:xfrm>
          <a:prstGeom prst="rect">
            <a:avLst/>
          </a:prstGeom>
        </p:spPr>
        <p:txBody>
          <a:bodyPr lIns="0" tIns="0" rIns="0" bIns="0" rtlCol="0" anchor="t">
            <a:spAutoFit/>
          </a:bodyPr>
          <a:lstStyle/>
          <a:p>
            <a:pPr algn="l">
              <a:lnSpc>
                <a:spcPts val="2879"/>
              </a:lnSpc>
            </a:pPr>
            <a:r>
              <a:rPr lang="en-US" sz="2400" b="1">
                <a:solidFill>
                  <a:srgbClr val="000000"/>
                </a:solidFill>
                <a:latin typeface="Public Sans Bold"/>
                <a:ea typeface="Public Sans Bold"/>
                <a:cs typeface="Public Sans Bold"/>
                <a:sym typeface="Public Sans Bold"/>
              </a:rPr>
              <a:t>The Evaluation</a:t>
            </a:r>
          </a:p>
        </p:txBody>
      </p:sp>
      <p:graphicFrame>
        <p:nvGraphicFramePr>
          <p:cNvPr id="10" name="Chart 9"/>
          <p:cNvGraphicFramePr>
            <a:graphicFrameLocks noGrp="1"/>
          </p:cNvGraphicFramePr>
          <p:nvPr/>
        </p:nvGraphicFramePr>
        <p:xfrm>
          <a:off x="11521440" y="2468880"/>
          <a:ext cx="5760720" cy="60350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100000"/>
              </a:srgbClr>
            </a:gs>
            <a:gs pos="100000">
              <a:srgbClr val="FDF8F0">
                <a:alpha val="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824418"/>
            <a:ext cx="11581812" cy="605790"/>
          </a:xfrm>
          <a:prstGeom prst="rect">
            <a:avLst/>
          </a:prstGeom>
        </p:spPr>
        <p:txBody>
          <a:bodyPr lIns="0" tIns="0" rIns="0" bIns="0" rtlCol="0" anchor="t">
            <a:spAutoFit/>
          </a:bodyPr>
          <a:lstStyle/>
          <a:p>
            <a:pPr algn="l">
              <a:lnSpc>
                <a:spcPts val="4620"/>
              </a:lnSpc>
            </a:pPr>
            <a:r>
              <a:rPr lang="en-US" sz="4200" b="1" spc="-168">
                <a:solidFill>
                  <a:srgbClr val="000000"/>
                </a:solidFill>
                <a:latin typeface="Public Sans Bold"/>
                <a:ea typeface="Public Sans Bold"/>
                <a:cs typeface="Public Sans Bold"/>
                <a:sym typeface="Public Sans Bold"/>
              </a:rPr>
              <a:t>Key Findings &amp; Future Scope</a:t>
            </a:r>
          </a:p>
        </p:txBody>
      </p:sp>
      <p:sp>
        <p:nvSpPr>
          <p:cNvPr id="3" name="TextBox 3"/>
          <p:cNvSpPr txBox="1"/>
          <p:nvPr/>
        </p:nvSpPr>
        <p:spPr>
          <a:xfrm>
            <a:off x="16486632" y="8945880"/>
            <a:ext cx="777240" cy="312420"/>
          </a:xfrm>
          <a:prstGeom prst="rect">
            <a:avLst/>
          </a:prstGeom>
        </p:spPr>
        <p:txBody>
          <a:bodyPr lIns="0" tIns="0" rIns="0" bIns="0" rtlCol="0" anchor="t">
            <a:spAutoFit/>
          </a:bodyPr>
          <a:lstStyle/>
          <a:p>
            <a:pPr algn="r">
              <a:lnSpc>
                <a:spcPts val="2310"/>
              </a:lnSpc>
            </a:pPr>
            <a:r>
              <a:rPr lang="en-US" sz="2100" b="1">
                <a:solidFill>
                  <a:srgbClr val="000000"/>
                </a:solidFill>
                <a:latin typeface="Public Sans Bold"/>
                <a:ea typeface="Public Sans Bold"/>
                <a:cs typeface="Public Sans Bold"/>
                <a:sym typeface="Public Sans Bold"/>
              </a:rPr>
              <a:t>8</a:t>
            </a:r>
          </a:p>
        </p:txBody>
      </p:sp>
      <p:sp>
        <p:nvSpPr>
          <p:cNvPr id="4" name="TextBox 4"/>
          <p:cNvSpPr txBox="1"/>
          <p:nvPr/>
        </p:nvSpPr>
        <p:spPr>
          <a:xfrm>
            <a:off x="1028700" y="3380746"/>
            <a:ext cx="4759843" cy="156972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Recent average points drive ~41% of split gain; wickets add ~22%.</a:t>
            </a:r>
          </a:p>
        </p:txBody>
      </p:sp>
      <p:sp>
        <p:nvSpPr>
          <p:cNvPr id="5" name="TextBox 5"/>
          <p:cNvSpPr txBox="1"/>
          <p:nvPr/>
        </p:nvSpPr>
        <p:spPr>
          <a:xfrm>
            <a:off x="1028700" y="2809246"/>
            <a:ext cx="6858000"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Top Predictors</a:t>
            </a:r>
          </a:p>
        </p:txBody>
      </p:sp>
      <p:sp>
        <p:nvSpPr>
          <p:cNvPr id="6" name="TextBox 6"/>
          <p:cNvSpPr txBox="1"/>
          <p:nvPr/>
        </p:nvSpPr>
        <p:spPr>
          <a:xfrm>
            <a:off x="1028700" y="6631628"/>
            <a:ext cx="4759843" cy="156972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Live match APIs, pitch and weather data, and SHAP explanations.</a:t>
            </a:r>
          </a:p>
        </p:txBody>
      </p:sp>
      <p:sp>
        <p:nvSpPr>
          <p:cNvPr id="7" name="TextBox 7"/>
          <p:cNvSpPr txBox="1"/>
          <p:nvPr/>
        </p:nvSpPr>
        <p:spPr>
          <a:xfrm>
            <a:off x="1028700" y="6060128"/>
            <a:ext cx="6858000"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Future Scope</a:t>
            </a:r>
          </a:p>
        </p:txBody>
      </p:sp>
      <p:sp>
        <p:nvSpPr>
          <p:cNvPr id="8" name="TextBox 8"/>
          <p:cNvSpPr txBox="1"/>
          <p:nvPr/>
        </p:nvSpPr>
        <p:spPr>
          <a:xfrm>
            <a:off x="9144000" y="3380746"/>
            <a:ext cx="4759843" cy="156972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Synthetic 2026 data; 80% of errors fall within ±13 points.</a:t>
            </a:r>
          </a:p>
        </p:txBody>
      </p:sp>
      <p:sp>
        <p:nvSpPr>
          <p:cNvPr id="9" name="TextBox 9"/>
          <p:cNvSpPr txBox="1"/>
          <p:nvPr/>
        </p:nvSpPr>
        <p:spPr>
          <a:xfrm>
            <a:off x="9144000" y="2809246"/>
            <a:ext cx="6858000"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Limitations</a:t>
            </a:r>
          </a:p>
        </p:txBody>
      </p:sp>
      <p:sp>
        <p:nvSpPr>
          <p:cNvPr id="10" name="TextBox 10"/>
          <p:cNvSpPr txBox="1"/>
          <p:nvPr/>
        </p:nvSpPr>
        <p:spPr>
          <a:xfrm>
            <a:off x="9144000" y="6631628"/>
            <a:ext cx="4759843" cy="156972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A knapsack solver to pick the best 11 within a credit cap.</a:t>
            </a:r>
          </a:p>
        </p:txBody>
      </p:sp>
      <p:sp>
        <p:nvSpPr>
          <p:cNvPr id="11" name="TextBox 11"/>
          <p:cNvSpPr txBox="1"/>
          <p:nvPr/>
        </p:nvSpPr>
        <p:spPr>
          <a:xfrm>
            <a:off x="9144000" y="6060128"/>
            <a:ext cx="6858000"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Next Step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0"/>
              </a:srgbClr>
            </a:gs>
            <a:gs pos="100000">
              <a:srgbClr val="FDF8F0">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FDF8F0">
                    <a:alpha val="0"/>
                  </a:srgbClr>
                </a:gs>
                <a:gs pos="100000">
                  <a:srgbClr val="EFE9DF">
                    <a:alpha val="100000"/>
                  </a:srgbClr>
                </a:gs>
              </a:gsLst>
              <a:lin ang="0"/>
            </a:gradFill>
          </p:spPr>
        </p:sp>
        <p:sp>
          <p:nvSpPr>
            <p:cNvPr id="4" name="TextBox 4"/>
            <p:cNvSpPr txBox="1"/>
            <p:nvPr/>
          </p:nvSpPr>
          <p:spPr>
            <a:xfrm>
              <a:off x="0" y="-38100"/>
              <a:ext cx="2408296" cy="2747433"/>
            </a:xfrm>
            <a:prstGeom prst="rect">
              <a:avLst/>
            </a:prstGeom>
          </p:spPr>
          <p:txBody>
            <a:bodyPr lIns="50800" tIns="50800" rIns="50800" bIns="50800" rtlCol="0" anchor="ctr"/>
            <a:lstStyle/>
            <a:p>
              <a:pPr algn="ctr">
                <a:lnSpc>
                  <a:spcPts val="3120"/>
                </a:lnSpc>
              </a:pPr>
              <a:endParaRPr/>
            </a:p>
          </p:txBody>
        </p:sp>
      </p:grpSp>
      <p:sp>
        <p:nvSpPr>
          <p:cNvPr id="5" name="Freeform 5"/>
          <p:cNvSpPr/>
          <p:nvPr/>
        </p:nvSpPr>
        <p:spPr>
          <a:xfrm>
            <a:off x="0" y="6704438"/>
            <a:ext cx="18288000" cy="3582562"/>
          </a:xfrm>
          <a:custGeom>
            <a:avLst/>
            <a:gdLst/>
            <a:ahLst/>
            <a:cxnLst/>
            <a:rect l="l" t="t" r="r" b="b"/>
            <a:pathLst>
              <a:path w="18288000" h="3582562">
                <a:moveTo>
                  <a:pt x="0" y="0"/>
                </a:moveTo>
                <a:lnTo>
                  <a:pt x="18288000" y="0"/>
                </a:lnTo>
                <a:lnTo>
                  <a:pt x="18288000" y="3582562"/>
                </a:lnTo>
                <a:lnTo>
                  <a:pt x="0" y="3582562"/>
                </a:lnTo>
                <a:lnTo>
                  <a:pt x="0" y="0"/>
                </a:lnTo>
                <a:close/>
              </a:path>
            </a:pathLst>
          </a:custGeom>
          <a:blipFill>
            <a:blip r:embed="rId3"/>
            <a:stretch>
              <a:fillRect/>
            </a:stretch>
          </a:blipFill>
        </p:spPr>
        <p:txBody>
          <a:bodyPr/>
          <a:lstStyle/>
          <a:p>
            <a:endParaRPr/>
          </a:p>
        </p:txBody>
      </p:sp>
      <p:sp>
        <p:nvSpPr>
          <p:cNvPr id="6" name="TextBox 6"/>
          <p:cNvSpPr txBox="1"/>
          <p:nvPr/>
        </p:nvSpPr>
        <p:spPr>
          <a:xfrm>
            <a:off x="1028700" y="1005393"/>
            <a:ext cx="9967681" cy="2493010"/>
          </a:xfrm>
          <a:prstGeom prst="rect">
            <a:avLst/>
          </a:prstGeom>
        </p:spPr>
        <p:txBody>
          <a:bodyPr lIns="0" tIns="0" rIns="0" bIns="0" rtlCol="0" anchor="t">
            <a:spAutoFit/>
          </a:bodyPr>
          <a:lstStyle/>
          <a:p>
            <a:pPr marL="0" lvl="0" indent="0" algn="l">
              <a:lnSpc>
                <a:spcPts val="9679"/>
              </a:lnSpc>
              <a:spcBef>
                <a:spcPct val="0"/>
              </a:spcBef>
            </a:pPr>
            <a:r>
              <a:rPr lang="en-US" sz="8799" b="1" u="none" strike="noStrike" spc="-263">
                <a:solidFill>
                  <a:srgbClr val="000000"/>
                </a:solidFill>
                <a:latin typeface="Public Sans Bold"/>
                <a:ea typeface="Public Sans Bold"/>
                <a:cs typeface="Public Sans Bold"/>
                <a:sym typeface="Public Sans Bold"/>
              </a:rPr>
              <a:t>Thank You</a:t>
            </a:r>
          </a:p>
        </p:txBody>
      </p:sp>
      <p:sp>
        <p:nvSpPr>
          <p:cNvPr id="7" name="TextBox 7"/>
          <p:cNvSpPr txBox="1"/>
          <p:nvPr/>
        </p:nvSpPr>
        <p:spPr>
          <a:xfrm>
            <a:off x="1028700" y="8528259"/>
            <a:ext cx="5846711" cy="251460"/>
          </a:xfrm>
          <a:prstGeom prst="rect">
            <a:avLst/>
          </a:prstGeom>
        </p:spPr>
        <p:txBody>
          <a:bodyPr lIns="0" tIns="0" rIns="0" bIns="0" rtlCol="0" anchor="t">
            <a:spAutoFit/>
          </a:bodyPr>
          <a:lstStyle/>
          <a:p>
            <a:pPr algn="l">
              <a:lnSpc>
                <a:spcPts val="1980"/>
              </a:lnSpc>
            </a:pPr>
            <a:r>
              <a:rPr lang="en-US" sz="1800">
                <a:solidFill>
                  <a:srgbClr val="FDF8F0"/>
                </a:solidFill>
                <a:latin typeface="Public Sans"/>
                <a:ea typeface="Public Sans"/>
                <a:cs typeface="Public Sans"/>
                <a:sym typeface="Public Sans"/>
              </a:rPr>
              <a:t>PRESENTED BY</a:t>
            </a:r>
          </a:p>
        </p:txBody>
      </p:sp>
      <p:sp>
        <p:nvSpPr>
          <p:cNvPr id="8" name="TextBox 8"/>
          <p:cNvSpPr txBox="1"/>
          <p:nvPr/>
        </p:nvSpPr>
        <p:spPr>
          <a:xfrm>
            <a:off x="1028700" y="8945880"/>
            <a:ext cx="5846711" cy="294953"/>
          </a:xfrm>
          <a:prstGeom prst="rect">
            <a:avLst/>
          </a:prstGeom>
        </p:spPr>
        <p:txBody>
          <a:bodyPr lIns="0" tIns="0" rIns="0" bIns="0" rtlCol="0" anchor="t">
            <a:spAutoFit/>
          </a:bodyPr>
          <a:lstStyle/>
          <a:p>
            <a:pPr algn="l">
              <a:lnSpc>
                <a:spcPts val="2310"/>
              </a:lnSpc>
            </a:pPr>
            <a:r>
              <a:rPr lang="en-US" sz="2100" b="1" dirty="0">
                <a:solidFill>
                  <a:srgbClr val="FDF8F0"/>
                </a:solidFill>
                <a:latin typeface="Public Sans Bold"/>
                <a:ea typeface="Public Sans Bold"/>
                <a:cs typeface="Public Sans Bold"/>
                <a:sym typeface="Public Sans Bold"/>
              </a:rPr>
              <a:t>SURISETTI PREM SAI · 2520030561</a:t>
            </a:r>
          </a:p>
          <a:p>
            <a:pPr algn="l">
              <a:lnSpc>
                <a:spcPts val="2310"/>
              </a:lnSpc>
              <a:spcBef>
                <a:spcPts val="900"/>
              </a:spcBef>
            </a:pPr>
            <a:r>
              <a:rPr lang="en-US" sz="2100" b="1" dirty="0">
                <a:solidFill>
                  <a:srgbClr val="FDF8F0"/>
                </a:solidFill>
                <a:latin typeface="Public Sans Bold"/>
                <a:ea typeface="Public Sans Bold"/>
                <a:cs typeface="Public Sans Bold"/>
                <a:sym typeface="Public Sans Bold"/>
              </a:rPr>
              <a:t>MOHIT VENKAT SAI · 2520030106</a:t>
            </a:r>
          </a:p>
        </p:txBody>
      </p:sp>
      <p:sp>
        <p:nvSpPr>
          <p:cNvPr id="9" name="TextBox 9"/>
          <p:cNvSpPr txBox="1"/>
          <p:nvPr/>
        </p:nvSpPr>
        <p:spPr>
          <a:xfrm>
            <a:off x="11412589" y="1028700"/>
            <a:ext cx="5846711" cy="312420"/>
          </a:xfrm>
          <a:prstGeom prst="rect">
            <a:avLst/>
          </a:prstGeom>
        </p:spPr>
        <p:txBody>
          <a:bodyPr lIns="0" tIns="0" rIns="0" bIns="0" rtlCol="0" anchor="t">
            <a:spAutoFit/>
          </a:bodyPr>
          <a:lstStyle/>
          <a:p>
            <a:pPr algn="r">
              <a:lnSpc>
                <a:spcPts val="2310"/>
              </a:lnSpc>
            </a:pPr>
            <a:r>
              <a:rPr lang="en-US" sz="2100">
                <a:solidFill>
                  <a:srgbClr val="000000"/>
                </a:solidFill>
                <a:latin typeface="Public Sans"/>
                <a:ea typeface="Public Sans"/>
                <a:cs typeface="Public Sans"/>
                <a:sym typeface="Public Sans"/>
              </a:rPr>
              <a:t>2026 OCTOBER 5</a:t>
            </a:r>
          </a:p>
        </p:txBody>
      </p:sp>
      <p:pic>
        <p:nvPicPr>
          <p:cNvPr id="10" name="Picture 9" descr="klh_banner.png"/>
          <p:cNvPicPr>
            <a:picLocks noChangeAspect="1"/>
          </p:cNvPicPr>
          <p:nvPr/>
        </p:nvPicPr>
        <p:blipFill>
          <a:blip r:embed="rId4"/>
          <a:stretch>
            <a:fillRect/>
          </a:stretch>
        </p:blipFill>
        <p:spPr>
          <a:xfrm>
            <a:off x="11585448" y="8732520"/>
            <a:ext cx="5669280" cy="643245"/>
          </a:xfrm>
          <a:prstGeom prst="rect">
            <a:avLst/>
          </a:prstGeom>
        </p:spPr>
      </p:pic>
      <p:sp>
        <p:nvSpPr>
          <p:cNvPr id="11" name="TextBox 7"/>
          <p:cNvSpPr txBox="1"/>
          <p:nvPr/>
        </p:nvSpPr>
        <p:spPr>
          <a:xfrm>
            <a:off x="7223760" y="8528259"/>
            <a:ext cx="5846711" cy="251460"/>
          </a:xfrm>
          <a:prstGeom prst="rect">
            <a:avLst/>
          </a:prstGeom>
        </p:spPr>
        <p:txBody>
          <a:bodyPr lIns="0" tIns="0" rIns="0" bIns="0" rtlCol="0" anchor="t">
            <a:spAutoFit/>
          </a:bodyPr>
          <a:lstStyle/>
          <a:p>
            <a:pPr algn="l">
              <a:lnSpc>
                <a:spcPts val="1980"/>
              </a:lnSpc>
            </a:pPr>
            <a:r>
              <a:rPr lang="en-US" sz="1800">
                <a:solidFill>
                  <a:srgbClr val="FDF8F0"/>
                </a:solidFill>
                <a:latin typeface="Public Sans"/>
                <a:ea typeface="Public Sans"/>
                <a:cs typeface="Public Sans"/>
                <a:sym typeface="Public Sans"/>
              </a:rPr>
              <a:t>GUIDED BY</a:t>
            </a:r>
          </a:p>
        </p:txBody>
      </p:sp>
      <p:sp>
        <p:nvSpPr>
          <p:cNvPr id="12" name="TextBox 8"/>
          <p:cNvSpPr txBox="1"/>
          <p:nvPr/>
        </p:nvSpPr>
        <p:spPr>
          <a:xfrm>
            <a:off x="7223760" y="8945880"/>
            <a:ext cx="5846711" cy="312420"/>
          </a:xfrm>
          <a:prstGeom prst="rect">
            <a:avLst/>
          </a:prstGeom>
        </p:spPr>
        <p:txBody>
          <a:bodyPr lIns="0" tIns="0" rIns="0" bIns="0" rtlCol="0" anchor="t">
            <a:spAutoFit/>
          </a:bodyPr>
          <a:lstStyle/>
          <a:p>
            <a:pPr algn="l">
              <a:lnSpc>
                <a:spcPts val="2310"/>
              </a:lnSpc>
            </a:pPr>
            <a:r>
              <a:rPr lang="en-US" sz="2100" b="1">
                <a:solidFill>
                  <a:srgbClr val="FDF8F0"/>
                </a:solidFill>
                <a:latin typeface="Public Sans Bold"/>
                <a:ea typeface="Public Sans Bold"/>
                <a:cs typeface="Public Sans Bold"/>
                <a:sym typeface="Public Sans Bold"/>
              </a:rPr>
              <a:t>M. RANI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DF8F0">
                <a:alpha val="100000"/>
              </a:srgbClr>
            </a:gs>
            <a:gs pos="100000">
              <a:srgbClr val="FDF8F0">
                <a:alpha val="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914400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3"/>
            <a:stretch>
              <a:fillRect/>
            </a:stretch>
          </a:blipFill>
          <a:ln cap="sq">
            <a:noFill/>
            <a:prstDash val="solid"/>
            <a:miter/>
          </a:ln>
        </p:spPr>
        <p:txBody>
          <a:bodyPr/>
          <a:lstStyle/>
          <a:p>
            <a:endParaRPr/>
          </a:p>
        </p:txBody>
      </p:sp>
      <p:sp>
        <p:nvSpPr>
          <p:cNvPr id="3" name="TextBox 3"/>
          <p:cNvSpPr txBox="1"/>
          <p:nvPr/>
        </p:nvSpPr>
        <p:spPr>
          <a:xfrm>
            <a:off x="1028700" y="824418"/>
            <a:ext cx="8115300" cy="605790"/>
          </a:xfrm>
          <a:prstGeom prst="rect">
            <a:avLst/>
          </a:prstGeom>
        </p:spPr>
        <p:txBody>
          <a:bodyPr lIns="0" tIns="0" rIns="0" bIns="0" rtlCol="0" anchor="t">
            <a:spAutoFit/>
          </a:bodyPr>
          <a:lstStyle/>
          <a:p>
            <a:pPr algn="l">
              <a:lnSpc>
                <a:spcPts val="4620"/>
              </a:lnSpc>
            </a:pPr>
            <a:r>
              <a:rPr lang="en-US" sz="4200" b="1" spc="-168">
                <a:solidFill>
                  <a:srgbClr val="000000"/>
                </a:solidFill>
                <a:latin typeface="Public Sans Bold"/>
                <a:ea typeface="Public Sans Bold"/>
                <a:cs typeface="Public Sans Bold"/>
                <a:sym typeface="Public Sans Bold"/>
              </a:rPr>
              <a:t>Exploratory Data Analysis</a:t>
            </a:r>
          </a:p>
        </p:txBody>
      </p:sp>
      <p:sp>
        <p:nvSpPr>
          <p:cNvPr id="4" name="TextBox 4"/>
          <p:cNvSpPr txBox="1"/>
          <p:nvPr/>
        </p:nvSpPr>
        <p:spPr>
          <a:xfrm>
            <a:off x="16486632" y="8945880"/>
            <a:ext cx="777240" cy="312420"/>
          </a:xfrm>
          <a:prstGeom prst="rect">
            <a:avLst/>
          </a:prstGeom>
        </p:spPr>
        <p:txBody>
          <a:bodyPr lIns="0" tIns="0" rIns="0" bIns="0" rtlCol="0" anchor="t">
            <a:spAutoFit/>
          </a:bodyPr>
          <a:lstStyle/>
          <a:p>
            <a:pPr algn="r">
              <a:lnSpc>
                <a:spcPts val="2310"/>
              </a:lnSpc>
            </a:pPr>
            <a:r>
              <a:rPr lang="en-US" sz="2100" b="1">
                <a:solidFill>
                  <a:srgbClr val="FDF8F0"/>
                </a:solidFill>
                <a:latin typeface="Public Sans Bold"/>
                <a:ea typeface="Public Sans Bold"/>
                <a:cs typeface="Public Sans Bold"/>
                <a:sym typeface="Public Sans Bold"/>
              </a:rPr>
              <a:t>4</a:t>
            </a:r>
          </a:p>
        </p:txBody>
      </p:sp>
      <p:sp>
        <p:nvSpPr>
          <p:cNvPr id="5" name="TextBox 5"/>
          <p:cNvSpPr txBox="1"/>
          <p:nvPr/>
        </p:nvSpPr>
        <p:spPr>
          <a:xfrm>
            <a:off x="1028700" y="4901843"/>
            <a:ext cx="4461999"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Key Patterns</a:t>
            </a:r>
          </a:p>
        </p:txBody>
      </p:sp>
      <p:sp>
        <p:nvSpPr>
          <p:cNvPr id="6" name="TextBox 6"/>
          <p:cNvSpPr txBox="1"/>
          <p:nvPr/>
        </p:nvSpPr>
        <p:spPr>
          <a:xfrm>
            <a:off x="1028700" y="5376188"/>
            <a:ext cx="7340172" cy="1960245"/>
          </a:xfrm>
          <a:prstGeom prst="rect">
            <a:avLst/>
          </a:prstGeom>
        </p:spPr>
        <p:txBody>
          <a:bodyPr lIns="0" tIns="0" rIns="0" bIns="0" rtlCol="0" anchor="t">
            <a:spAutoFit/>
          </a:bodyPr>
          <a:lstStyle/>
          <a:p>
            <a:pPr marL="518160" lvl="1" indent="-259080" algn="l">
              <a:lnSpc>
                <a:spcPts val="3120"/>
              </a:lnSpc>
              <a:buFont typeface="Arial"/>
              <a:buChar char="•"/>
            </a:pPr>
            <a:r>
              <a:rPr lang="en-US" sz="2400">
                <a:solidFill>
                  <a:srgbClr val="000000"/>
                </a:solidFill>
                <a:latin typeface="Public Sans"/>
                <a:ea typeface="Public Sans"/>
                <a:cs typeface="Public Sans"/>
                <a:sym typeface="Public Sans"/>
              </a:rPr>
              <a:t>Recent form is the strongest signal</a:t>
            </a:r>
          </a:p>
          <a:p>
            <a:pPr marL="518160" lvl="1" indent="-259080" algn="l">
              <a:lnSpc>
                <a:spcPts val="3120"/>
              </a:lnSpc>
              <a:buFont typeface="Arial"/>
              <a:buChar char="•"/>
            </a:pPr>
            <a:r>
              <a:rPr lang="en-US" sz="2400">
                <a:solidFill>
                  <a:srgbClr val="000000"/>
                </a:solidFill>
                <a:latin typeface="Public Sans"/>
                <a:ea typeface="Public Sans"/>
                <a:cs typeface="Public Sans"/>
                <a:sym typeface="Public Sans"/>
              </a:rPr>
              <a:t>All-rounders score the most on average</a:t>
            </a:r>
          </a:p>
          <a:p>
            <a:pPr marL="518160" lvl="1" indent="-259080" algn="l">
              <a:lnSpc>
                <a:spcPts val="3120"/>
              </a:lnSpc>
              <a:buFont typeface="Arial"/>
              <a:buChar char="•"/>
            </a:pPr>
            <a:r>
              <a:rPr lang="en-US" sz="2400">
                <a:solidFill>
                  <a:srgbClr val="000000"/>
                </a:solidFill>
                <a:latin typeface="Public Sans"/>
                <a:ea typeface="Public Sans"/>
                <a:cs typeface="Public Sans"/>
                <a:sym typeface="Public Sans"/>
              </a:rPr>
              <a:t>Stronger opponents lower the score</a:t>
            </a:r>
          </a:p>
        </p:txBody>
      </p:sp>
      <p:sp>
        <p:nvSpPr>
          <p:cNvPr id="7" name="TextBox 7"/>
          <p:cNvSpPr txBox="1"/>
          <p:nvPr/>
        </p:nvSpPr>
        <p:spPr>
          <a:xfrm>
            <a:off x="1028700" y="7869833"/>
            <a:ext cx="4461999" cy="398145"/>
          </a:xfrm>
          <a:prstGeom prst="rect">
            <a:avLst/>
          </a:prstGeom>
        </p:spPr>
        <p:txBody>
          <a:bodyPr lIns="0" tIns="0" rIns="0" bIns="0" rtlCol="0" anchor="t">
            <a:spAutoFit/>
          </a:bodyPr>
          <a:lstStyle/>
          <a:p>
            <a:pPr algn="l">
              <a:lnSpc>
                <a:spcPts val="3120"/>
              </a:lnSpc>
            </a:pPr>
            <a:r>
              <a:rPr lang="en-US" sz="2400" b="1">
                <a:solidFill>
                  <a:srgbClr val="000000"/>
                </a:solidFill>
                <a:latin typeface="Public Sans Bold"/>
                <a:ea typeface="Public Sans Bold"/>
                <a:cs typeface="Public Sans Bold"/>
                <a:sym typeface="Public Sans Bold"/>
              </a:rPr>
              <a:t>Data Quality</a:t>
            </a:r>
          </a:p>
        </p:txBody>
      </p:sp>
      <p:sp>
        <p:nvSpPr>
          <p:cNvPr id="8" name="TextBox 8"/>
          <p:cNvSpPr txBox="1"/>
          <p:nvPr/>
        </p:nvSpPr>
        <p:spPr>
          <a:xfrm>
            <a:off x="1028700" y="8344178"/>
            <a:ext cx="7340172" cy="7886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Only 1.1% of values are missing; fixing casing and spaces cut 19 team labels to 10.</a:t>
            </a:r>
          </a:p>
        </p:txBody>
      </p:sp>
      <p:sp>
        <p:nvSpPr>
          <p:cNvPr id="9" name="TextBox 9"/>
          <p:cNvSpPr txBox="1"/>
          <p:nvPr/>
        </p:nvSpPr>
        <p:spPr>
          <a:xfrm>
            <a:off x="1028700" y="3193662"/>
            <a:ext cx="7340172" cy="788670"/>
          </a:xfrm>
          <a:prstGeom prst="rect">
            <a:avLst/>
          </a:prstGeom>
        </p:spPr>
        <p:txBody>
          <a:bodyPr lIns="0" tIns="0" rIns="0" bIns="0" rtlCol="0" anchor="t">
            <a:spAutoFit/>
          </a:bodyPr>
          <a:lstStyle/>
          <a:p>
            <a:pPr algn="l">
              <a:lnSpc>
                <a:spcPts val="3120"/>
              </a:lnSpc>
            </a:pPr>
            <a:r>
              <a:rPr lang="en-US" sz="2400">
                <a:solidFill>
                  <a:srgbClr val="000000"/>
                </a:solidFill>
                <a:latin typeface="Public Sans"/>
                <a:ea typeface="Public Sans"/>
                <a:cs typeface="Public Sans"/>
                <a:sym typeface="Public Sans"/>
              </a:rPr>
              <a:t>Fantasy points average 35.6 (median 34.4), range 0–114, with a mild right skew of 0.55.</a:t>
            </a:r>
          </a:p>
        </p:txBody>
      </p:sp>
      <p:sp>
        <p:nvSpPr>
          <p:cNvPr id="10" name="TextBox 10"/>
          <p:cNvSpPr txBox="1"/>
          <p:nvPr/>
        </p:nvSpPr>
        <p:spPr>
          <a:xfrm>
            <a:off x="1028700" y="2742571"/>
            <a:ext cx="4391261" cy="371475"/>
          </a:xfrm>
          <a:prstGeom prst="rect">
            <a:avLst/>
          </a:prstGeom>
        </p:spPr>
        <p:txBody>
          <a:bodyPr lIns="0" tIns="0" rIns="0" bIns="0" rtlCol="0" anchor="t">
            <a:spAutoFit/>
          </a:bodyPr>
          <a:lstStyle/>
          <a:p>
            <a:pPr algn="l">
              <a:lnSpc>
                <a:spcPts val="2879"/>
              </a:lnSpc>
            </a:pPr>
            <a:r>
              <a:rPr lang="en-US" sz="2400" b="1">
                <a:solidFill>
                  <a:srgbClr val="000000"/>
                </a:solidFill>
                <a:latin typeface="Public Sans Bold"/>
                <a:ea typeface="Public Sans Bold"/>
                <a:cs typeface="Public Sans Bold"/>
                <a:sym typeface="Public Sans Bold"/>
              </a:rPr>
              <a:t>Target Distribution</a:t>
            </a:r>
          </a:p>
        </p:txBody>
      </p:sp>
      <p:sp>
        <p:nvSpPr>
          <p:cNvPr id="11" name="AutoShape 11"/>
          <p:cNvSpPr/>
          <p:nvPr/>
        </p:nvSpPr>
        <p:spPr>
          <a:xfrm flipH="1">
            <a:off x="1028700" y="4461138"/>
            <a:ext cx="8115300" cy="0"/>
          </a:xfrm>
          <a:prstGeom prst="line">
            <a:avLst/>
          </a:prstGeom>
          <a:ln w="9525" cap="flat">
            <a:solidFill>
              <a:srgbClr val="000000">
                <a:alpha val="49804"/>
              </a:srgbClr>
            </a:solidFill>
            <a:prstDash val="solid"/>
            <a:headEnd type="none" w="sm" len="sm"/>
            <a:tailEnd type="none" w="sm" len="sm"/>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842</Words>
  <Application>Microsoft Office PowerPoint</Application>
  <PresentationFormat>Custom</PresentationFormat>
  <Paragraphs>83</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Public Sans</vt:lpstr>
      <vt:lpstr>Public Sans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and White Modern Professional Introduction to Renewable Energy Topic Presentation</dc:title>
  <dc:creator>Prem Sai Surisetty</dc:creator>
  <cp:lastModifiedBy>Prem Sai Surisetty</cp:lastModifiedBy>
  <cp:revision>2</cp:revision>
  <dcterms:created xsi:type="dcterms:W3CDTF">2006-08-16T00:00:00Z</dcterms:created>
  <dcterms:modified xsi:type="dcterms:W3CDTF">2026-10-04T12:18:26Z</dcterms:modified>
  <dc:identifier>DAHXDMO5hrs</dc:identifier>
</cp:coreProperties>
</file>